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having us. This is a business case for a circular concrete plant in the Netherlands: a ready-mix plant that uses recycled concrete as aggregate. We set four viability tests before we built the model, and we kept them. The honest result is that a stand-alone plant does not pay. The base case has a net present value of minus 5.33 million euro at an 8% real discount rate, an IRR of minus 13.9%, no payback within ten years, and a funding need of 7.09 million euro. It passes only one of the four tests. So we are not asking you for an investment today. We will show why the plant fails, what would have to change, and the small, gated test we propose instead. Source: model/results.json, base case after the red-team review (first sales 2028).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problems meet here. First, CO₂. The Netherlands uses about 3.5 to 4 million tonnes of cement a year, and cement drives the CO₂ of concrete. A mix with pure Portland cement, CEM I, emits about 286 kg CO₂ per cubic metre. The Dutch standard blast-furnace cement mix, CEM III/B, is already much lower at about 129 kg. These per-m³ figures are our estimates on the Betonakkoord basis. Second, waste. Every year 11.5 to 15 million tonnes of concrete rubble are released. Almost none is landfilled, but only 8 to 15% goes back into new concrete. The rest is crushed into road base, which is a lower-value use. Road-base demand is shrinking, because few new roads are built and policy caps concrete in road-base granulate. Sources: market.md, MKT-01 to MKT-11.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 is the tailwind. The Betonakkoord, the Dutch concrete agreement, caps concrete in mixed road-base granulate at 30% in 2025, 15% in 2027 and 5% in 2030. Its target for rubble going back into concrete rises from 20% in 2026 to more than 60% in 2030. A draft decree will make maximum MKI values, a shadow-cost measure of environmental impact, compulsory for concrete in every public civil-works tender. We assume a start on 1 January 2028; the levels are not set yet. EU ETS free allocation for cement ends in 2034 under current law, but a July 2026 proposal would slow this to 2038. The catch: these rules push supply of recycled aggregate up. They do not raise the price we can charge. Sources: policy.md, POL-01, POL-17, POL-39, POL-42; MKT-11.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it works. A certified recycler crushes clean demolition concrete. We buy the coarse recycled aggregate at about 24.5 euro per tonne delivered, which is cheaper than barge gravel at 32 euro. Our plant mixes it with CEM III/B cement. The plant runs 120 cubic metres an hour on a 1.5-hectare waterside site in the Rotterdam–Drechtsteden area, and costs 5.5 million euro. Subcontracted truck mixers deliver about 20 kilometres. At full output we sell 70,000 cubic metres a year, 60% of it circular mixes. Be clear on one point: recycled aggregate gives circularity, not lower CO₂. Our circular mix emits about 132 kg CO₂ per cubic metre, against 129 kg for the standard mix, because it needs a little more cement. Sources: technology.md, price_breakdown.md, A-CST-09.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total Dutch market for ready-mix and prefab concrete is about 2.5 billion euro a year, or 11.3 million cubic metres. The circular-addressable ready-mix part, where a buyer has a reason to choose circular and the norms allow recycled aggregate, is about 2.6 million cubic metres, or 0.35 billion euro. Ready-mix is local: trucks drive 25 to 50 kilometres at most. Inside one Zuid-Holland plant's radius the addressable volume is about 0.36 million cubic metres. A realistic share for a newcomer is about 60,000 cubic metres, or 8 million euro a year. Our model uses 70,000, which is already twice the average Dutch plant of 33,700 cubic metres. The market is mature: ready-mix volume fell from 7.5 to 6.0 million cubic metres in 2023. All TAM, SAM and SOM values are estimates.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alone. SL Materials, formerly Urban Mine and spun off from Rutte Groep, received a 100 million euro commitment from Aviva Investors and ABN AMRO in October 2026. It recovers sand, gravel and cement from rubble. everox, formerly C2CA from TU Delft, is building a plant with Dura Vermeer in 's-Gravendeel, permitted for 100,000 tonnes a year but delayed. The incumbents already sell what we would sell. Heidelberg Materials, with about 30 plants, offers EcoCrete with 30 to 100% recycled aggregate. Holcim lists its low-CO₂ ECOPact at only 5 to 9 euro more per cubic metre. Rivalry, supplier power and buyer power are all high. For a stand-alone newcomer the market is low to medium attractive. Sources: competitors.md, CMP-04, CMP-05, CMP-17, CMP-35.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cost per cubic metre in 2030, the first year at full output. The circular mix is not the problem. Its cash cost is 131.6 euro per cubic metre, against 134.1 for the standard mix, so it is 2.5 euro cheaper. The reason is simple: recycled aggregate at 24.5 euro a tonne is cheaper than gravel at 32. It also earns a small green premium of about 0.8 euro per cubic metre. The problem is the margin for every mix. Cement, aggregates and delivery take about three quarters of the price. After all costs the plant average earns 4.6 euro EBITDA per cubic metre, a 3.4% margin. The chart shows full cost including depreciation, so its cost labels are slightly higher than cash cost. Source: model UnitEconomics sheet, model_summary.md section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plant fails. EBITDA turns positive in 2030, the third operating year, at 0.32 million euro. Then it slowly falls to about 0.19 million, because cement carbon and slag costs rise faster than the 80% we assume we can pass on in prices. That pass-through rate is a judgement call without a source; at 100% NPV improves by only 0.4 million. Per cubic metre the plant earns 4.6 euro EBITDA. To recover 5.5 million euro of capex over ten years at 8%, it would need about 11.7 euro. The gap is about 7 euro per cubic metre, or 5% of the selling price. A mature, price-driven market does not give a newcomer 5% extra. Source: model_summary.md section 2, ebitda_by_year chart.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numbers. Net present value at 8% real is minus 5.33 million euro, which is minus 97% of the capex. The IRR is minus 13.9%. Cumulative cash never turns positive within the ten years, so there is no payback. EBITDA in the third operating year, 2030, is plus 0.32 million euro. The funding need, the deepest point of cumulative free cash flow, is 7.09 million euro, reached in 2029. Even with the 1.25 million euro salvage value in 2036, cumulative cash ends at minus 4.9 million. Two conservative choices were fixed in our plan: terminal value is salvage only, and working capital is not released. Undoing both, plus full price pass-through, still leaves NPV at minus 3.4 million. Source: model/results.json, model_summary.md section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moved each input to its low and high value, one at a time. Selling price dominates. At 155 euro per cubic metre, 15% above base, NPV just reaches plus 0.25 million. No other single change gets above zero. Delivery distance, gravel price, utilisation, capex and cement price each move NPV by about 4 to 5 million, but all stay negative. The two circular levers matter little. The green premium from 0 to 3% swings NPV by only 1.2 million. The whole ETS and CBAM carbon path swings it by 0.45 million, because competitors pay the same carbon cost. And the price risk points down, not up. Our 135 euro base sits at or above the market average. At 130 euro, NPV is minus 7.1 million. Source: model sensitivity, A-MKT-16.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wrote these four tests into our plan before any result existed, and we did not change them. NPV is negative, so test 1 fails. There is no payback within ten years, so test 2 fails. EBITDA is positive in the third operating year, but only just, so test 3 passes narrowly. Test 4 asks for a positive NPV with at least two of six main drivers at their pessimistic value. We get zero of six. NPV is minus 97% of capex, far outside the borderline band of minus 10% to zero. The right-hand chart shows the realistic range. Every point estimate is below zero. Only the top end of a rough, indicative spread crosses zero. The spread treats drivers as independent, so it is not a probability. Sources: plan.md, model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not stop at no. We tested ten single options and two packages in the same model. All have a negative NPV, between minus 2.5 and minus 6.3 million euro, and none passes the robustness test. Asset-light licensing loses least only because it invests almost nothing; its EBITDA never turns positive. The best plant route is buying an existing plant instead of building one: minus 3.5 million. Our best package, P2, buys a plant, crushes rubble with a demolition partner, signs framework contracts and scales to 90,000 cubic metres. That is a stack of favourable inputs, not a likely case. It gives minus 4.0 million, with a range of minus 6.8 to minus 1.4 million. The green levers, such as a lower-CO₂ binder, lose money. Source: results_options.json, viability_options.md.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would have to be true for NPV to reach zero? Taking one condition at a time: volume of 134,000 cubic metres a year, almost four times an average Dutch plant. Or an average price of 154 euro, 14% above our base, which is already at or above the market. Or a public green premium of 58.5%, against 1.5% assumed. For our best package the key is the gate fee, the fee a demolition firm pays us to take clean rubble. NPV zero needs about 30 euro a tonne on base terms, or 15 euro if everything else goes our way. Bulk evidence today is 0 to 1 euro. Policy does not close the gap: a levy on primary aggregates hits us as much as competitors, and a faster ETS phase-out hurts. Sources: model extras, results_options.json, MKT-20.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recommendation follows the evidence. Do not build a greenfield plant. No route is investable today. The integrated acquisition route comes closest, so it is worth a small due-diligence phase of 50 to 100 thousand euro, not an investment. It tests three gates by the second quarter of 2027. Gate A: a waterside plant for 2.5 million euro or less. Gate B, the hard gate: a seven to ten year rubble contract with a gate fee and steel split that bring NPV to zero or above. Gate C: framework contracts for at least 40,000 cubic metres a year. If any gate fails, we stop, and the loss is capped at the diligence budget. Even if all pass, we invest only if the re-run model passes all four tests. On today's evidence, gate B fails.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lists the inputs that matter most, with their labels. The selling price of 135 euro per cubic metre is the most important and the least certain input: confidence low, and the error probably points down. Capex and the ramp-up have no vendor quote. The two pass-through rates are judgement calls without a source. For completeness: the model also has stress bounds where every input goes wrong or right at the same time, minus 35.5 and plus 24.5 million euro. These are not likely cases, so we do not use them in the pitch. The interviews that would change our view fastest are bulk gate fees for clean rubble, prices paid for small ready-mix plants, and real project prices by strength class. Sources: assumptions.md, inputs.csv, model_summary.md.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2B"/>
        </a:solidFill>
        <a:effectLst/>
      </p:bgPr>
    </p:bg>
    <p:spTree>
      <p:nvGrpSpPr>
        <p:cNvPr id="1" name=""/>
        <p:cNvGrpSpPr/>
        <p:nvPr/>
      </p:nvGrpSpPr>
      <p:grpSpPr/>
      <p:sp>
        <p:nvSpPr>
          <p:cNvPr id="2" name="TextBox 1"/>
          <p:cNvSpPr txBox="1"/>
          <p:nvPr/>
        </p:nvSpPr>
        <p:spPr>
          <a:xfrm>
            <a:off x="640080" y="822960"/>
            <a:ext cx="10515600" cy="365760"/>
          </a:xfrm>
          <a:prstGeom prst="rect">
            <a:avLst/>
          </a:prstGeom>
          <a:noFill/>
        </p:spPr>
        <p:txBody>
          <a:bodyPr wrap="square" anchor="t" lIns="0" rIns="0" tIns="0" bIns="0">
            <a:spAutoFit/>
          </a:bodyPr>
          <a:lstStyle/>
          <a:p>
            <a:pPr algn="l">
              <a:spcAft>
                <a:spcPts val="600"/>
              </a:spcAft>
            </a:pPr>
            <a:r>
              <a:rPr sz="1400" b="1" i="0">
                <a:solidFill>
                  <a:srgbClr val="8FB8EC"/>
                </a:solidFill>
                <a:latin typeface="Calibri"/>
              </a:rPr>
              <a:t>CIRCULAR CONCRETE · NETHERLANDS · BUSINESS CASE 2026–2036</a:t>
            </a:r>
          </a:p>
        </p:txBody>
      </p:sp>
      <p:sp>
        <p:nvSpPr>
          <p:cNvPr id="3" name="TextBox 2"/>
          <p:cNvSpPr txBox="1"/>
          <p:nvPr/>
        </p:nvSpPr>
        <p:spPr>
          <a:xfrm>
            <a:off x="640080" y="1325880"/>
            <a:ext cx="10789920" cy="1737360"/>
          </a:xfrm>
          <a:prstGeom prst="rect">
            <a:avLst/>
          </a:prstGeom>
          <a:noFill/>
        </p:spPr>
        <p:txBody>
          <a:bodyPr wrap="square" anchor="t" lIns="0" rIns="0" tIns="0" bIns="0">
            <a:spAutoFit/>
          </a:bodyPr>
          <a:lstStyle/>
          <a:p>
            <a:pPr algn="l">
              <a:spcAft>
                <a:spcPts val="0"/>
              </a:spcAft>
            </a:pPr>
            <a:r>
              <a:rPr sz="4200" b="1" i="0">
                <a:solidFill>
                  <a:srgbClr val="FFFFFF"/>
                </a:solidFill>
                <a:latin typeface="Calibri"/>
              </a:rPr>
              <a:t>A stand-alone circular concrete plant in the Netherlands does not pay</a:t>
            </a:r>
          </a:p>
        </p:txBody>
      </p:sp>
      <p:sp>
        <p:nvSpPr>
          <p:cNvPr id="4" name="TextBox 3"/>
          <p:cNvSpPr txBox="1"/>
          <p:nvPr/>
        </p:nvSpPr>
        <p:spPr>
          <a:xfrm>
            <a:off x="640080" y="3017520"/>
            <a:ext cx="10332720" cy="914400"/>
          </a:xfrm>
          <a:prstGeom prst="rect">
            <a:avLst/>
          </a:prstGeom>
          <a:noFill/>
        </p:spPr>
        <p:txBody>
          <a:bodyPr wrap="square" anchor="t" lIns="0" rIns="0" tIns="0" bIns="0">
            <a:spAutoFit/>
          </a:bodyPr>
          <a:lstStyle/>
          <a:p>
            <a:pPr algn="l">
              <a:spcAft>
                <a:spcPts val="600"/>
              </a:spcAft>
            </a:pPr>
            <a:r>
              <a:rPr sz="1800" b="0" i="0">
                <a:solidFill>
                  <a:srgbClr val="D6DEE8"/>
                </a:solidFill>
                <a:latin typeface="Calibri"/>
              </a:rPr>
              <a:t>We tested one circular ready-mix plant in Zuid-Holland against four viability tests set in advance. Verdict: NOT VIABLE. Our ask is a €50–100k due-diligence phase, not an investment.</a:t>
            </a:r>
          </a:p>
        </p:txBody>
      </p:sp>
      <p:sp>
        <p:nvSpPr>
          <p:cNvPr id="5" name="Rounded Rectangle 4"/>
          <p:cNvSpPr/>
          <p:nvPr/>
        </p:nvSpPr>
        <p:spPr>
          <a:xfrm>
            <a:off x="640080" y="4251960"/>
            <a:ext cx="2522143" cy="1234440"/>
          </a:xfrm>
          <a:prstGeom prst="roundRect">
            <a:avLst>
              <a:gd name="adj" fmla="val 6000"/>
            </a:avLst>
          </a:prstGeom>
          <a:solidFill>
            <a:srgbClr val="22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343400"/>
            <a:ext cx="2064943" cy="594360"/>
          </a:xfrm>
          <a:prstGeom prst="rect">
            <a:avLst/>
          </a:prstGeom>
          <a:noFill/>
        </p:spPr>
        <p:txBody>
          <a:bodyPr wrap="square" anchor="t" lIns="0" rIns="0" tIns="0" bIns="0">
            <a:spAutoFit/>
          </a:bodyPr>
          <a:lstStyle/>
          <a:p>
            <a:pPr algn="l">
              <a:spcAft>
                <a:spcPts val="600"/>
              </a:spcAft>
            </a:pPr>
            <a:r>
              <a:rPr sz="3000" b="1" i="0">
                <a:solidFill>
                  <a:srgbClr val="FFFFFF"/>
                </a:solidFill>
                <a:latin typeface="Calibri"/>
              </a:rPr>
              <a:t>−€5.33M</a:t>
            </a:r>
          </a:p>
        </p:txBody>
      </p:sp>
      <p:sp>
        <p:nvSpPr>
          <p:cNvPr id="7" name="TextBox 6"/>
          <p:cNvSpPr txBox="1"/>
          <p:nvPr/>
        </p:nvSpPr>
        <p:spPr>
          <a:xfrm>
            <a:off x="868680" y="4937760"/>
            <a:ext cx="2064943" cy="411480"/>
          </a:xfrm>
          <a:prstGeom prst="rect">
            <a:avLst/>
          </a:prstGeom>
          <a:noFill/>
        </p:spPr>
        <p:txBody>
          <a:bodyPr wrap="square" anchor="t" lIns="0" rIns="0" tIns="0" bIns="0">
            <a:spAutoFit/>
          </a:bodyPr>
          <a:lstStyle/>
          <a:p>
            <a:pPr algn="l">
              <a:spcAft>
                <a:spcPts val="600"/>
              </a:spcAft>
            </a:pPr>
            <a:r>
              <a:rPr sz="1400" b="0" i="0">
                <a:solidFill>
                  <a:srgbClr val="C4CFDB"/>
                </a:solidFill>
                <a:latin typeface="Calibri"/>
              </a:rPr>
              <a:t>NPV at 8% real</a:t>
            </a:r>
          </a:p>
        </p:txBody>
      </p:sp>
      <p:sp>
        <p:nvSpPr>
          <p:cNvPr id="8" name="Rounded Rectangle 7"/>
          <p:cNvSpPr/>
          <p:nvPr/>
        </p:nvSpPr>
        <p:spPr>
          <a:xfrm>
            <a:off x="3436543" y="4251960"/>
            <a:ext cx="2522143" cy="1234440"/>
          </a:xfrm>
          <a:prstGeom prst="roundRect">
            <a:avLst>
              <a:gd name="adj" fmla="val 6000"/>
            </a:avLst>
          </a:prstGeom>
          <a:solidFill>
            <a:srgbClr val="22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4343400"/>
            <a:ext cx="2064943" cy="594360"/>
          </a:xfrm>
          <a:prstGeom prst="rect">
            <a:avLst/>
          </a:prstGeom>
          <a:noFill/>
        </p:spPr>
        <p:txBody>
          <a:bodyPr wrap="square" anchor="t" lIns="0" rIns="0" tIns="0" bIns="0">
            <a:spAutoFit/>
          </a:bodyPr>
          <a:lstStyle/>
          <a:p>
            <a:pPr algn="l">
              <a:spcAft>
                <a:spcPts val="600"/>
              </a:spcAft>
            </a:pPr>
            <a:r>
              <a:rPr sz="3000" b="1" i="0">
                <a:solidFill>
                  <a:srgbClr val="FFFFFF"/>
                </a:solidFill>
                <a:latin typeface="Calibri"/>
              </a:rPr>
              <a:t>−13.9%</a:t>
            </a:r>
          </a:p>
        </p:txBody>
      </p:sp>
      <p:sp>
        <p:nvSpPr>
          <p:cNvPr id="10" name="TextBox 9"/>
          <p:cNvSpPr txBox="1"/>
          <p:nvPr/>
        </p:nvSpPr>
        <p:spPr>
          <a:xfrm>
            <a:off x="3665143" y="4937760"/>
            <a:ext cx="2064943" cy="411480"/>
          </a:xfrm>
          <a:prstGeom prst="rect">
            <a:avLst/>
          </a:prstGeom>
          <a:noFill/>
        </p:spPr>
        <p:txBody>
          <a:bodyPr wrap="square" anchor="t" lIns="0" rIns="0" tIns="0" bIns="0">
            <a:spAutoFit/>
          </a:bodyPr>
          <a:lstStyle/>
          <a:p>
            <a:pPr algn="l">
              <a:spcAft>
                <a:spcPts val="600"/>
              </a:spcAft>
            </a:pPr>
            <a:r>
              <a:rPr sz="1400" b="0" i="0">
                <a:solidFill>
                  <a:srgbClr val="C4CFDB"/>
                </a:solidFill>
                <a:latin typeface="Calibri"/>
              </a:rPr>
              <a:t>IRR (real)</a:t>
            </a:r>
          </a:p>
        </p:txBody>
      </p:sp>
      <p:sp>
        <p:nvSpPr>
          <p:cNvPr id="11" name="Rounded Rectangle 10"/>
          <p:cNvSpPr/>
          <p:nvPr/>
        </p:nvSpPr>
        <p:spPr>
          <a:xfrm>
            <a:off x="6233007" y="4251960"/>
            <a:ext cx="2522143" cy="1234440"/>
          </a:xfrm>
          <a:prstGeom prst="roundRect">
            <a:avLst>
              <a:gd name="adj" fmla="val 6000"/>
            </a:avLst>
          </a:prstGeom>
          <a:solidFill>
            <a:srgbClr val="22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4343400"/>
            <a:ext cx="2064943" cy="594360"/>
          </a:xfrm>
          <a:prstGeom prst="rect">
            <a:avLst/>
          </a:prstGeom>
          <a:noFill/>
        </p:spPr>
        <p:txBody>
          <a:bodyPr wrap="square" anchor="t" lIns="0" rIns="0" tIns="0" bIns="0">
            <a:spAutoFit/>
          </a:bodyPr>
          <a:lstStyle/>
          <a:p>
            <a:pPr algn="l">
              <a:spcAft>
                <a:spcPts val="600"/>
              </a:spcAft>
            </a:pPr>
            <a:r>
              <a:rPr sz="3000" b="1" i="0">
                <a:solidFill>
                  <a:srgbClr val="FFFFFF"/>
                </a:solidFill>
                <a:latin typeface="Calibri"/>
              </a:rPr>
              <a:t>€7.09M</a:t>
            </a:r>
          </a:p>
        </p:txBody>
      </p:sp>
      <p:sp>
        <p:nvSpPr>
          <p:cNvPr id="13" name="TextBox 12"/>
          <p:cNvSpPr txBox="1"/>
          <p:nvPr/>
        </p:nvSpPr>
        <p:spPr>
          <a:xfrm>
            <a:off x="6461607" y="4937760"/>
            <a:ext cx="2064943" cy="411480"/>
          </a:xfrm>
          <a:prstGeom prst="rect">
            <a:avLst/>
          </a:prstGeom>
          <a:noFill/>
        </p:spPr>
        <p:txBody>
          <a:bodyPr wrap="square" anchor="t" lIns="0" rIns="0" tIns="0" bIns="0">
            <a:spAutoFit/>
          </a:bodyPr>
          <a:lstStyle/>
          <a:p>
            <a:pPr algn="l">
              <a:spcAft>
                <a:spcPts val="600"/>
              </a:spcAft>
            </a:pPr>
            <a:r>
              <a:rPr sz="1400" b="0" i="0">
                <a:solidFill>
                  <a:srgbClr val="C4CFDB"/>
                </a:solidFill>
                <a:latin typeface="Calibri"/>
              </a:rPr>
              <a:t>funding need</a:t>
            </a:r>
          </a:p>
        </p:txBody>
      </p:sp>
      <p:sp>
        <p:nvSpPr>
          <p:cNvPr id="14" name="Rounded Rectangle 13"/>
          <p:cNvSpPr/>
          <p:nvPr/>
        </p:nvSpPr>
        <p:spPr>
          <a:xfrm>
            <a:off x="9029471" y="4251960"/>
            <a:ext cx="2522143" cy="1234440"/>
          </a:xfrm>
          <a:prstGeom prst="roundRect">
            <a:avLst>
              <a:gd name="adj" fmla="val 6000"/>
            </a:avLst>
          </a:prstGeom>
          <a:solidFill>
            <a:srgbClr val="22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4343400"/>
            <a:ext cx="2064943" cy="594360"/>
          </a:xfrm>
          <a:prstGeom prst="rect">
            <a:avLst/>
          </a:prstGeom>
          <a:noFill/>
        </p:spPr>
        <p:txBody>
          <a:bodyPr wrap="square" anchor="t" lIns="0" rIns="0" tIns="0" bIns="0">
            <a:spAutoFit/>
          </a:bodyPr>
          <a:lstStyle/>
          <a:p>
            <a:pPr algn="l">
              <a:spcAft>
                <a:spcPts val="600"/>
              </a:spcAft>
            </a:pPr>
            <a:r>
              <a:rPr sz="3000" b="1" i="0">
                <a:solidFill>
                  <a:srgbClr val="FFFFFF"/>
                </a:solidFill>
                <a:latin typeface="Calibri"/>
              </a:rPr>
              <a:t>1 of 4</a:t>
            </a:r>
          </a:p>
        </p:txBody>
      </p:sp>
      <p:sp>
        <p:nvSpPr>
          <p:cNvPr id="16" name="TextBox 15"/>
          <p:cNvSpPr txBox="1"/>
          <p:nvPr/>
        </p:nvSpPr>
        <p:spPr>
          <a:xfrm>
            <a:off x="9258071" y="4937760"/>
            <a:ext cx="2064943" cy="411480"/>
          </a:xfrm>
          <a:prstGeom prst="rect">
            <a:avLst/>
          </a:prstGeom>
          <a:noFill/>
        </p:spPr>
        <p:txBody>
          <a:bodyPr wrap="square" anchor="t" lIns="0" rIns="0" tIns="0" bIns="0">
            <a:spAutoFit/>
          </a:bodyPr>
          <a:lstStyle/>
          <a:p>
            <a:pPr algn="l">
              <a:spcAft>
                <a:spcPts val="600"/>
              </a:spcAft>
            </a:pPr>
            <a:r>
              <a:rPr sz="1400" b="0" i="0">
                <a:solidFill>
                  <a:srgbClr val="C4CFDB"/>
                </a:solidFill>
                <a:latin typeface="Calibri"/>
              </a:rPr>
              <a:t>viability tests passed</a:t>
            </a:r>
          </a:p>
        </p:txBody>
      </p:sp>
      <p:sp>
        <p:nvSpPr>
          <p:cNvPr id="17" name="TextBox 16"/>
          <p:cNvSpPr txBox="1"/>
          <p:nvPr/>
        </p:nvSpPr>
        <p:spPr>
          <a:xfrm>
            <a:off x="640080" y="5989320"/>
            <a:ext cx="10972800" cy="365760"/>
          </a:xfrm>
          <a:prstGeom prst="rect">
            <a:avLst/>
          </a:prstGeom>
          <a:noFill/>
        </p:spPr>
        <p:txBody>
          <a:bodyPr wrap="square" anchor="t" lIns="0" rIns="0" tIns="0" bIns="0">
            <a:spAutoFit/>
          </a:bodyPr>
          <a:lstStyle/>
          <a:p>
            <a:pPr algn="l">
              <a:spcAft>
                <a:spcPts val="600"/>
              </a:spcAft>
            </a:pPr>
            <a:r>
              <a:rPr sz="1200" b="0" i="0">
                <a:solidFill>
                  <a:srgbClr val="9FAEBE"/>
                </a:solidFill>
                <a:latin typeface="Calibri"/>
              </a:rPr>
              <a:t>Investor and jury pitch · 22 October 2026 · real 2026 €, excl. VAT · base case: permits 2026, build 2027, first sales 2028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Concrete carries a large CO₂ load, and most Dutch concrete rubble is downcycled into road base</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Sources: market.md §1–2 (MKT-01, MKT-03, MKT-05–MKT-09, MKT-11); CO₂ per m³ from price_breakdown.md §12 [ESTIMATE, Betonakkoord A1–A3 basis].</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2</a:t>
            </a:r>
          </a:p>
        </p:txBody>
      </p:sp>
      <p:sp>
        <p:nvSpPr>
          <p:cNvPr id="5" name="Rounded Rectangle 4"/>
          <p:cNvSpPr/>
          <p:nvPr/>
        </p:nvSpPr>
        <p:spPr>
          <a:xfrm>
            <a:off x="548640" y="1691640"/>
            <a:ext cx="3515258"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3149498" cy="685800"/>
          </a:xfrm>
          <a:prstGeom prst="rect">
            <a:avLst/>
          </a:prstGeom>
          <a:noFill/>
        </p:spPr>
        <p:txBody>
          <a:bodyPr wrap="square" anchor="t" lIns="0" rIns="0" tIns="0" bIns="0">
            <a:spAutoFit/>
          </a:bodyPr>
          <a:lstStyle/>
          <a:p>
            <a:pPr algn="l">
              <a:spcAft>
                <a:spcPts val="600"/>
              </a:spcAft>
            </a:pPr>
            <a:r>
              <a:rPr sz="3400" b="1" i="0">
                <a:solidFill>
                  <a:srgbClr val="2A78D6"/>
                </a:solidFill>
                <a:latin typeface="Calibri"/>
              </a:rPr>
              <a:t>3.5–4 Mt</a:t>
            </a:r>
          </a:p>
        </p:txBody>
      </p:sp>
      <p:sp>
        <p:nvSpPr>
          <p:cNvPr id="7" name="TextBox 6"/>
          <p:cNvSpPr txBox="1"/>
          <p:nvPr/>
        </p:nvSpPr>
        <p:spPr>
          <a:xfrm>
            <a:off x="731520" y="2368550"/>
            <a:ext cx="3149498" cy="557530"/>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cement used in the Netherlands each year; cement is the main CO₂ source in concrete</a:t>
            </a:r>
          </a:p>
        </p:txBody>
      </p:sp>
      <p:sp>
        <p:nvSpPr>
          <p:cNvPr id="8" name="Rounded Rectangle 7"/>
          <p:cNvSpPr/>
          <p:nvPr/>
        </p:nvSpPr>
        <p:spPr>
          <a:xfrm>
            <a:off x="4338218" y="1691640"/>
            <a:ext cx="3515258"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1098" y="1828800"/>
            <a:ext cx="3149498" cy="685800"/>
          </a:xfrm>
          <a:prstGeom prst="rect">
            <a:avLst/>
          </a:prstGeom>
          <a:noFill/>
        </p:spPr>
        <p:txBody>
          <a:bodyPr wrap="square" anchor="t" lIns="0" rIns="0" tIns="0" bIns="0">
            <a:spAutoFit/>
          </a:bodyPr>
          <a:lstStyle/>
          <a:p>
            <a:pPr algn="l">
              <a:spcAft>
                <a:spcPts val="600"/>
              </a:spcAft>
            </a:pPr>
            <a:r>
              <a:rPr sz="3400" b="1" i="0">
                <a:solidFill>
                  <a:srgbClr val="2A78D6"/>
                </a:solidFill>
                <a:latin typeface="Calibri"/>
              </a:rPr>
              <a:t>11.5–15 Mt</a:t>
            </a:r>
          </a:p>
        </p:txBody>
      </p:sp>
      <p:sp>
        <p:nvSpPr>
          <p:cNvPr id="10" name="TextBox 9"/>
          <p:cNvSpPr txBox="1"/>
          <p:nvPr/>
        </p:nvSpPr>
        <p:spPr>
          <a:xfrm>
            <a:off x="4521098" y="2368550"/>
            <a:ext cx="3149498" cy="557530"/>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concrete rubble released each year (about 60% of all stony demolition waste)</a:t>
            </a:r>
          </a:p>
        </p:txBody>
      </p:sp>
      <p:sp>
        <p:nvSpPr>
          <p:cNvPr id="11" name="Rounded Rectangle 10"/>
          <p:cNvSpPr/>
          <p:nvPr/>
        </p:nvSpPr>
        <p:spPr>
          <a:xfrm>
            <a:off x="8127796" y="1691640"/>
            <a:ext cx="3515258"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10676" y="1828800"/>
            <a:ext cx="3149498" cy="685800"/>
          </a:xfrm>
          <a:prstGeom prst="rect">
            <a:avLst/>
          </a:prstGeom>
          <a:noFill/>
        </p:spPr>
        <p:txBody>
          <a:bodyPr wrap="square" anchor="t" lIns="0" rIns="0" tIns="0" bIns="0">
            <a:spAutoFit/>
          </a:bodyPr>
          <a:lstStyle/>
          <a:p>
            <a:pPr algn="l">
              <a:spcAft>
                <a:spcPts val="600"/>
              </a:spcAft>
            </a:pPr>
            <a:r>
              <a:rPr sz="3400" b="1" i="0">
                <a:solidFill>
                  <a:srgbClr val="2A78D6"/>
                </a:solidFill>
                <a:latin typeface="Calibri"/>
              </a:rPr>
              <a:t>8–15%</a:t>
            </a:r>
          </a:p>
        </p:txBody>
      </p:sp>
      <p:sp>
        <p:nvSpPr>
          <p:cNvPr id="13" name="TextBox 12"/>
          <p:cNvSpPr txBox="1"/>
          <p:nvPr/>
        </p:nvSpPr>
        <p:spPr>
          <a:xfrm>
            <a:off x="8310676" y="2368550"/>
            <a:ext cx="3149498" cy="557530"/>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of that rubble goes back into new concrete today; the rest is mostly road base</a:t>
            </a:r>
          </a:p>
        </p:txBody>
      </p:sp>
      <p:sp>
        <p:nvSpPr>
          <p:cNvPr id="14" name="TextBox 13"/>
          <p:cNvSpPr txBox="1"/>
          <p:nvPr/>
        </p:nvSpPr>
        <p:spPr>
          <a:xfrm>
            <a:off x="548640" y="3429000"/>
            <a:ext cx="11094415" cy="365760"/>
          </a:xfrm>
          <a:prstGeom prst="rect">
            <a:avLst/>
          </a:prstGeom>
          <a:noFill/>
        </p:spPr>
        <p:txBody>
          <a:bodyPr wrap="square" anchor="t" lIns="0" rIns="0" tIns="0" bIns="0">
            <a:spAutoFit/>
          </a:bodyPr>
          <a:lstStyle/>
          <a:p>
            <a:pPr algn="l">
              <a:spcAft>
                <a:spcPts val="600"/>
              </a:spcAft>
            </a:pPr>
            <a:r>
              <a:rPr sz="1600" b="1" i="0">
                <a:solidFill>
                  <a:srgbClr val="1B1F24"/>
                </a:solidFill>
                <a:latin typeface="Calibri"/>
              </a:rPr>
              <a:t>Where Dutch concrete rubble goes today (2023–2025, share of tonnes)</a:t>
            </a:r>
          </a:p>
        </p:txBody>
      </p:sp>
      <p:sp>
        <p:nvSpPr>
          <p:cNvPr id="15" name="Rectangle 14"/>
          <p:cNvSpPr/>
          <p:nvPr/>
        </p:nvSpPr>
        <p:spPr>
          <a:xfrm>
            <a:off x="548640" y="3886200"/>
            <a:ext cx="9818557" cy="640080"/>
          </a:xfrm>
          <a:prstGeom prst="rect">
            <a:avLst/>
          </a:prstGeom>
          <a:solidFill>
            <a:srgbClr val="B9B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367197" y="3886200"/>
            <a:ext cx="1275857" cy="6400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86200"/>
            <a:ext cx="7315200" cy="640080"/>
          </a:xfrm>
          <a:prstGeom prst="rect">
            <a:avLst/>
          </a:prstGeom>
          <a:noFill/>
        </p:spPr>
        <p:txBody>
          <a:bodyPr wrap="square" anchor="ctr" lIns="0" rIns="0" tIns="0" bIns="0">
            <a:spAutoFit/>
          </a:bodyPr>
          <a:lstStyle/>
          <a:p>
            <a:pPr algn="l">
              <a:spcAft>
                <a:spcPts val="600"/>
              </a:spcAft>
            </a:pPr>
            <a:r>
              <a:rPr sz="1600" b="1" i="0">
                <a:solidFill>
                  <a:srgbClr val="1B1F24"/>
                </a:solidFill>
                <a:latin typeface="Calibri"/>
              </a:rPr>
              <a:t>Road base and fill: ~85–90%</a:t>
            </a:r>
          </a:p>
        </p:txBody>
      </p:sp>
      <p:sp>
        <p:nvSpPr>
          <p:cNvPr id="18" name="TextBox 17"/>
          <p:cNvSpPr txBox="1"/>
          <p:nvPr/>
        </p:nvSpPr>
        <p:spPr>
          <a:xfrm>
            <a:off x="7623997" y="4599432"/>
            <a:ext cx="4023360" cy="365760"/>
          </a:xfrm>
          <a:prstGeom prst="rect">
            <a:avLst/>
          </a:prstGeom>
          <a:noFill/>
        </p:spPr>
        <p:txBody>
          <a:bodyPr wrap="square" anchor="t" lIns="0" rIns="0" tIns="0" bIns="0">
            <a:spAutoFit/>
          </a:bodyPr>
          <a:lstStyle/>
          <a:p>
            <a:pPr algn="r">
              <a:spcAft>
                <a:spcPts val="600"/>
              </a:spcAft>
            </a:pPr>
            <a:r>
              <a:rPr sz="1400" b="1" i="0">
                <a:solidFill>
                  <a:srgbClr val="2A78D6"/>
                </a:solidFill>
                <a:latin typeface="Calibri"/>
              </a:rPr>
              <a:t>Back into new concrete: ~8–15%</a:t>
            </a:r>
          </a:p>
        </p:txBody>
      </p:sp>
      <p:sp>
        <p:nvSpPr>
          <p:cNvPr id="19" name="TextBox 18"/>
          <p:cNvSpPr txBox="1"/>
          <p:nvPr/>
        </p:nvSpPr>
        <p:spPr>
          <a:xfrm>
            <a:off x="548640" y="5120640"/>
            <a:ext cx="11094415" cy="822960"/>
          </a:xfrm>
          <a:prstGeom prst="rect">
            <a:avLst/>
          </a:prstGeom>
          <a:noFill/>
        </p:spPr>
        <p:txBody>
          <a:bodyPr wrap="square" anchor="t" lIns="0" rIns="0" tIns="0" bIns="0">
            <a:spAutoFit/>
          </a:bodyPr>
          <a:lstStyle/>
          <a:p>
            <a:pPr algn="l">
              <a:spcAft>
                <a:spcPts val="600"/>
              </a:spcAft>
            </a:pPr>
            <a:r>
              <a:rPr sz="1600" b="1" i="0">
                <a:solidFill>
                  <a:srgbClr val="1B1F24"/>
                </a:solidFill>
                <a:latin typeface="Calibri"/>
              </a:rPr>
              <a:t>CO₂ per m³ depends on the cement: </a:t>
            </a:r>
            <a:r>
              <a:rPr sz="1600" b="0" i="0">
                <a:solidFill>
                  <a:srgbClr val="1B1F24"/>
                </a:solidFill>
                <a:latin typeface="Calibri"/>
              </a:rPr>
              <a:t>a CEM I mix emits ~286 kg CO₂/m³; the Dutch standard CEM III/B mix ~129 kg. Landfill is near zero, so the issue is downcycling, not dumping.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Policy will push rubble out of road base and into new concrete from 2027 onwards</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Sources: policy.md §1, §3, §5, §10 (POL-01, POL-17, POL-18, POL-39, POL-42); market.md §2 (MKT-05, MKT-11). GWW decree start date is assumption A-POL-13.</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3</a:t>
            </a:r>
          </a:p>
        </p:txBody>
      </p:sp>
      <p:cxnSp>
        <p:nvCxnSpPr>
          <p:cNvPr id="5" name="Connector 4"/>
          <p:cNvCxnSpPr/>
          <p:nvPr/>
        </p:nvCxnSpPr>
        <p:spPr>
          <a:xfrm>
            <a:off x="822959" y="2331720"/>
            <a:ext cx="10545776" cy="0"/>
          </a:xfrm>
          <a:prstGeom prst="line">
            <a:avLst/>
          </a:prstGeom>
          <a:ln w="38100">
            <a:solidFill>
              <a:srgbClr val="DADCE0"/>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530065" y="2203703"/>
            <a:ext cx="256032" cy="25603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79" y="1645920"/>
            <a:ext cx="2036003" cy="457200"/>
          </a:xfrm>
          <a:prstGeom prst="rect">
            <a:avLst/>
          </a:prstGeom>
          <a:noFill/>
        </p:spPr>
        <p:txBody>
          <a:bodyPr wrap="square" anchor="t" lIns="0" rIns="0" tIns="0" bIns="0">
            <a:spAutoFit/>
          </a:bodyPr>
          <a:lstStyle/>
          <a:p>
            <a:pPr algn="ctr">
              <a:spcAft>
                <a:spcPts val="600"/>
              </a:spcAft>
            </a:pPr>
            <a:r>
              <a:rPr sz="2200" b="1" i="0">
                <a:solidFill>
                  <a:srgbClr val="2A78D6"/>
                </a:solidFill>
                <a:latin typeface="Calibri"/>
              </a:rPr>
              <a:t>2025</a:t>
            </a:r>
          </a:p>
        </p:txBody>
      </p:sp>
      <p:sp>
        <p:nvSpPr>
          <p:cNvPr id="8" name="TextBox 7"/>
          <p:cNvSpPr txBox="1"/>
          <p:nvPr/>
        </p:nvSpPr>
        <p:spPr>
          <a:xfrm>
            <a:off x="658367" y="2606040"/>
            <a:ext cx="1999427" cy="1188720"/>
          </a:xfrm>
          <a:prstGeom prst="rect">
            <a:avLst/>
          </a:prstGeom>
          <a:noFill/>
        </p:spPr>
        <p:txBody>
          <a:bodyPr wrap="square" anchor="t" lIns="0" rIns="0" tIns="0" bIns="0">
            <a:spAutoFit/>
          </a:bodyPr>
          <a:lstStyle/>
          <a:p>
            <a:pPr algn="ctr">
              <a:spcAft>
                <a:spcPts val="600"/>
              </a:spcAft>
            </a:pPr>
            <a:r>
              <a:rPr sz="1400" b="0" i="0">
                <a:solidFill>
                  <a:srgbClr val="1B1F24"/>
                </a:solidFill>
                <a:latin typeface="Calibri"/>
              </a:rPr>
              <a:t>Road-base cap: max 30% concrete in mixed granulate</a:t>
            </a:r>
          </a:p>
        </p:txBody>
      </p:sp>
      <p:sp>
        <p:nvSpPr>
          <p:cNvPr id="9" name="Oval 8"/>
          <p:cNvSpPr/>
          <p:nvPr/>
        </p:nvSpPr>
        <p:spPr>
          <a:xfrm>
            <a:off x="3748948" y="2203703"/>
            <a:ext cx="256032" cy="25603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58963" y="1645920"/>
            <a:ext cx="2036003" cy="457200"/>
          </a:xfrm>
          <a:prstGeom prst="rect">
            <a:avLst/>
          </a:prstGeom>
          <a:noFill/>
        </p:spPr>
        <p:txBody>
          <a:bodyPr wrap="square" anchor="t" lIns="0" rIns="0" tIns="0" bIns="0">
            <a:spAutoFit/>
          </a:bodyPr>
          <a:lstStyle/>
          <a:p>
            <a:pPr algn="ctr">
              <a:spcAft>
                <a:spcPts val="600"/>
              </a:spcAft>
            </a:pPr>
            <a:r>
              <a:rPr sz="2200" b="1" i="0">
                <a:solidFill>
                  <a:srgbClr val="2A78D6"/>
                </a:solidFill>
                <a:latin typeface="Calibri"/>
              </a:rPr>
              <a:t>2027</a:t>
            </a:r>
          </a:p>
        </p:txBody>
      </p:sp>
      <p:sp>
        <p:nvSpPr>
          <p:cNvPr id="11" name="TextBox 10"/>
          <p:cNvSpPr txBox="1"/>
          <p:nvPr/>
        </p:nvSpPr>
        <p:spPr>
          <a:xfrm>
            <a:off x="2877251" y="2606040"/>
            <a:ext cx="1999427" cy="1188720"/>
          </a:xfrm>
          <a:prstGeom prst="rect">
            <a:avLst/>
          </a:prstGeom>
          <a:noFill/>
        </p:spPr>
        <p:txBody>
          <a:bodyPr wrap="square" anchor="t" lIns="0" rIns="0" tIns="0" bIns="0">
            <a:spAutoFit/>
          </a:bodyPr>
          <a:lstStyle/>
          <a:p>
            <a:pPr algn="ctr">
              <a:spcAft>
                <a:spcPts val="600"/>
              </a:spcAft>
            </a:pPr>
            <a:r>
              <a:rPr sz="1400" b="0" i="0">
                <a:solidFill>
                  <a:srgbClr val="1B1F24"/>
                </a:solidFill>
                <a:latin typeface="Calibri"/>
              </a:rPr>
              <a:t>Cap falls to 15%; target 30% of rubble back into concrete</a:t>
            </a:r>
          </a:p>
        </p:txBody>
      </p:sp>
      <p:sp>
        <p:nvSpPr>
          <p:cNvPr id="12" name="Oval 11"/>
          <p:cNvSpPr/>
          <p:nvPr/>
        </p:nvSpPr>
        <p:spPr>
          <a:xfrm>
            <a:off x="5967831" y="2203703"/>
            <a:ext cx="256032" cy="25603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7846" y="1645920"/>
            <a:ext cx="2036003" cy="457200"/>
          </a:xfrm>
          <a:prstGeom prst="rect">
            <a:avLst/>
          </a:prstGeom>
          <a:noFill/>
        </p:spPr>
        <p:txBody>
          <a:bodyPr wrap="square" anchor="t" lIns="0" rIns="0" tIns="0" bIns="0">
            <a:spAutoFit/>
          </a:bodyPr>
          <a:lstStyle/>
          <a:p>
            <a:pPr algn="ctr">
              <a:spcAft>
                <a:spcPts val="600"/>
              </a:spcAft>
            </a:pPr>
            <a:r>
              <a:rPr sz="2200" b="1" i="0">
                <a:solidFill>
                  <a:srgbClr val="2A78D6"/>
                </a:solidFill>
                <a:latin typeface="Calibri"/>
              </a:rPr>
              <a:t>2028</a:t>
            </a:r>
          </a:p>
        </p:txBody>
      </p:sp>
      <p:sp>
        <p:nvSpPr>
          <p:cNvPr id="14" name="TextBox 13"/>
          <p:cNvSpPr txBox="1"/>
          <p:nvPr/>
        </p:nvSpPr>
        <p:spPr>
          <a:xfrm>
            <a:off x="5096134" y="2606040"/>
            <a:ext cx="1999427" cy="1188720"/>
          </a:xfrm>
          <a:prstGeom prst="rect">
            <a:avLst/>
          </a:prstGeom>
          <a:noFill/>
        </p:spPr>
        <p:txBody>
          <a:bodyPr wrap="square" anchor="t" lIns="0" rIns="0" tIns="0" bIns="0">
            <a:spAutoFit/>
          </a:bodyPr>
          <a:lstStyle/>
          <a:p>
            <a:pPr algn="ctr">
              <a:spcAft>
                <a:spcPts val="600"/>
              </a:spcAft>
            </a:pPr>
            <a:r>
              <a:rPr sz="1400" b="0" i="0">
                <a:solidFill>
                  <a:srgbClr val="1B1F24"/>
                </a:solidFill>
                <a:latin typeface="Calibri"/>
              </a:rPr>
              <a:t>GWW decree: max MKI for concrete in every public civil-works tender (base date)</a:t>
            </a:r>
          </a:p>
        </p:txBody>
      </p:sp>
      <p:sp>
        <p:nvSpPr>
          <p:cNvPr id="15" name="Oval 14"/>
          <p:cNvSpPr/>
          <p:nvPr/>
        </p:nvSpPr>
        <p:spPr>
          <a:xfrm>
            <a:off x="8186714" y="2203703"/>
            <a:ext cx="256032" cy="25603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96729" y="1645920"/>
            <a:ext cx="2036003" cy="457200"/>
          </a:xfrm>
          <a:prstGeom prst="rect">
            <a:avLst/>
          </a:prstGeom>
          <a:noFill/>
        </p:spPr>
        <p:txBody>
          <a:bodyPr wrap="square" anchor="t" lIns="0" rIns="0" tIns="0" bIns="0">
            <a:spAutoFit/>
          </a:bodyPr>
          <a:lstStyle/>
          <a:p>
            <a:pPr algn="ctr">
              <a:spcAft>
                <a:spcPts val="600"/>
              </a:spcAft>
            </a:pPr>
            <a:r>
              <a:rPr sz="2200" b="1" i="0">
                <a:solidFill>
                  <a:srgbClr val="2A78D6"/>
                </a:solidFill>
                <a:latin typeface="Calibri"/>
              </a:rPr>
              <a:t>2030</a:t>
            </a:r>
          </a:p>
        </p:txBody>
      </p:sp>
      <p:sp>
        <p:nvSpPr>
          <p:cNvPr id="17" name="TextBox 16"/>
          <p:cNvSpPr txBox="1"/>
          <p:nvPr/>
        </p:nvSpPr>
        <p:spPr>
          <a:xfrm>
            <a:off x="7315017" y="2606040"/>
            <a:ext cx="1999427" cy="1188720"/>
          </a:xfrm>
          <a:prstGeom prst="rect">
            <a:avLst/>
          </a:prstGeom>
          <a:noFill/>
        </p:spPr>
        <p:txBody>
          <a:bodyPr wrap="square" anchor="t" lIns="0" rIns="0" tIns="0" bIns="0">
            <a:spAutoFit/>
          </a:bodyPr>
          <a:lstStyle/>
          <a:p>
            <a:pPr algn="ctr">
              <a:spcAft>
                <a:spcPts val="600"/>
              </a:spcAft>
            </a:pPr>
            <a:r>
              <a:rPr sz="1400" b="0" i="0">
                <a:solidFill>
                  <a:srgbClr val="1B1F24"/>
                </a:solidFill>
                <a:latin typeface="Calibri"/>
              </a:rPr>
              <a:t>Cap 5%; target &gt;60% of rubble back into concrete</a:t>
            </a:r>
          </a:p>
        </p:txBody>
      </p:sp>
      <p:sp>
        <p:nvSpPr>
          <p:cNvPr id="18" name="Oval 17"/>
          <p:cNvSpPr/>
          <p:nvPr/>
        </p:nvSpPr>
        <p:spPr>
          <a:xfrm>
            <a:off x="10405597" y="2203703"/>
            <a:ext cx="256032" cy="25603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15612" y="1645920"/>
            <a:ext cx="2036003" cy="457200"/>
          </a:xfrm>
          <a:prstGeom prst="rect">
            <a:avLst/>
          </a:prstGeom>
          <a:noFill/>
        </p:spPr>
        <p:txBody>
          <a:bodyPr wrap="square" anchor="t" lIns="0" rIns="0" tIns="0" bIns="0">
            <a:spAutoFit/>
          </a:bodyPr>
          <a:lstStyle/>
          <a:p>
            <a:pPr algn="ctr">
              <a:spcAft>
                <a:spcPts val="600"/>
              </a:spcAft>
            </a:pPr>
            <a:r>
              <a:rPr sz="2200" b="1" i="0">
                <a:solidFill>
                  <a:srgbClr val="2A78D6"/>
                </a:solidFill>
                <a:latin typeface="Calibri"/>
              </a:rPr>
              <a:t>2034</a:t>
            </a:r>
          </a:p>
        </p:txBody>
      </p:sp>
      <p:sp>
        <p:nvSpPr>
          <p:cNvPr id="20" name="TextBox 19"/>
          <p:cNvSpPr txBox="1"/>
          <p:nvPr/>
        </p:nvSpPr>
        <p:spPr>
          <a:xfrm>
            <a:off x="9533900" y="2606040"/>
            <a:ext cx="1999427" cy="1188720"/>
          </a:xfrm>
          <a:prstGeom prst="rect">
            <a:avLst/>
          </a:prstGeom>
          <a:noFill/>
        </p:spPr>
        <p:txBody>
          <a:bodyPr wrap="square" anchor="t" lIns="0" rIns="0" tIns="0" bIns="0">
            <a:spAutoFit/>
          </a:bodyPr>
          <a:lstStyle/>
          <a:p>
            <a:pPr algn="ctr">
              <a:spcAft>
                <a:spcPts val="600"/>
              </a:spcAft>
            </a:pPr>
            <a:r>
              <a:rPr sz="1400" b="0" i="0">
                <a:solidFill>
                  <a:srgbClr val="1B1F24"/>
                </a:solidFill>
                <a:latin typeface="Calibri"/>
              </a:rPr>
              <a:t>EU ETS free allocation for cement ends (may slip to 2038)</a:t>
            </a:r>
          </a:p>
        </p:txBody>
      </p:sp>
      <p:sp>
        <p:nvSpPr>
          <p:cNvPr id="21" name="Rounded Rectangle 20"/>
          <p:cNvSpPr/>
          <p:nvPr/>
        </p:nvSpPr>
        <p:spPr>
          <a:xfrm>
            <a:off x="548640" y="4069080"/>
            <a:ext cx="11094415" cy="16002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4206240"/>
            <a:ext cx="10545775" cy="411480"/>
          </a:xfrm>
          <a:prstGeom prst="rect">
            <a:avLst/>
          </a:prstGeom>
          <a:noFill/>
        </p:spPr>
        <p:txBody>
          <a:bodyPr wrap="square" anchor="t" lIns="0" rIns="0" tIns="0" bIns="0">
            <a:spAutoFit/>
          </a:bodyPr>
          <a:lstStyle/>
          <a:p>
            <a:pPr algn="l">
              <a:spcAft>
                <a:spcPts val="600"/>
              </a:spcAft>
            </a:pPr>
            <a:r>
              <a:rPr sz="1800" b="1" i="0">
                <a:solidFill>
                  <a:srgbClr val="1B1F24"/>
                </a:solidFill>
                <a:latin typeface="Calibri"/>
              </a:rPr>
              <a:t>But policy pushes supply, not our selling price</a:t>
            </a:r>
          </a:p>
        </p:txBody>
      </p:sp>
      <p:sp>
        <p:nvSpPr>
          <p:cNvPr id="23" name="TextBox 22"/>
          <p:cNvSpPr txBox="1"/>
          <p:nvPr/>
        </p:nvSpPr>
        <p:spPr>
          <a:xfrm>
            <a:off x="822959" y="4663440"/>
            <a:ext cx="5090007" cy="1463040"/>
          </a:xfrm>
          <a:prstGeom prst="rect">
            <a:avLst/>
          </a:prstGeom>
          <a:noFill/>
        </p:spPr>
        <p:txBody>
          <a:bodyPr wrap="square" anchor="t" lIns="0" rIns="0" tIns="0" bIns="0">
            <a:spAutoFit/>
          </a:bodyPr>
          <a:lstStyle/>
          <a:p>
            <a:pPr algn="l">
              <a:spcAft>
                <a:spcPts val="600"/>
              </a:spcAft>
            </a:pPr>
            <a:r>
              <a:rPr sz="1500" b="0" i="0">
                <a:solidFill>
                  <a:srgbClr val="1B1F24"/>
                </a:solidFill>
                <a:latin typeface="Calibri"/>
              </a:rPr>
              <a:t>• MPG tightening for new homes was cancelled (June 2025).</a:t>
            </a:r>
          </a:p>
          <a:p>
            <a:pPr algn="l">
              <a:spcAft>
                <a:spcPts val="600"/>
              </a:spcAft>
            </a:pPr>
            <a:r>
              <a:rPr sz="1500" b="0" i="0">
                <a:solidFill>
                  <a:srgbClr val="1B1F24"/>
                </a:solidFill>
                <a:latin typeface="Calibri"/>
              </a:rPr>
              <a:t>• The new waste plan (CMP) still counts road base as recycling.</a:t>
            </a:r>
          </a:p>
        </p:txBody>
      </p:sp>
      <p:sp>
        <p:nvSpPr>
          <p:cNvPr id="24" name="TextBox 23"/>
          <p:cNvSpPr txBox="1"/>
          <p:nvPr/>
        </p:nvSpPr>
        <p:spPr>
          <a:xfrm>
            <a:off x="6187287" y="4663440"/>
            <a:ext cx="5181447" cy="1463040"/>
          </a:xfrm>
          <a:prstGeom prst="rect">
            <a:avLst/>
          </a:prstGeom>
          <a:noFill/>
        </p:spPr>
        <p:txBody>
          <a:bodyPr wrap="square" anchor="t" lIns="0" rIns="0" tIns="0" bIns="0">
            <a:spAutoFit/>
          </a:bodyPr>
          <a:lstStyle/>
          <a:p>
            <a:pPr algn="l">
              <a:spcAft>
                <a:spcPts val="600"/>
              </a:spcAft>
            </a:pPr>
            <a:r>
              <a:rPr sz="1500" b="0" i="0">
                <a:solidFill>
                  <a:srgbClr val="1B1F24"/>
                </a:solidFill>
                <a:latin typeface="Calibri"/>
              </a:rPr>
              <a:t>• No levy on primary sand and gravel is proposed.</a:t>
            </a:r>
          </a:p>
          <a:p>
            <a:pPr algn="l">
              <a:spcAft>
                <a:spcPts val="600"/>
              </a:spcAft>
            </a:pPr>
            <a:r>
              <a:rPr sz="1500" b="0" i="0">
                <a:solidFill>
                  <a:srgbClr val="1B1F24"/>
                </a:solidFill>
                <a:latin typeface="Calibri"/>
              </a:rPr>
              <a:t>• MKI rewards depend on the binder, and competitors use the same CEM III/B.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Our product is standard ready-mix in which half of the coarse gravel is recycled concrete</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Sources: technology.md §1.1, §8; price_breakdown.md §2–3, §12; model/inputs.csv (A-CST-09, A-CST-11, A-TEC-28, A-FIX-02); model_summary.md §1.</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4</a:t>
            </a:r>
          </a:p>
        </p:txBody>
      </p:sp>
      <p:sp>
        <p:nvSpPr>
          <p:cNvPr id="5" name="Rounded Rectangle 4"/>
          <p:cNvSpPr/>
          <p:nvPr/>
        </p:nvSpPr>
        <p:spPr>
          <a:xfrm>
            <a:off x="548640" y="1691640"/>
            <a:ext cx="2036003" cy="1874519"/>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82880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7" name="TextBox 6"/>
          <p:cNvSpPr txBox="1"/>
          <p:nvPr/>
        </p:nvSpPr>
        <p:spPr>
          <a:xfrm>
            <a:off x="731520" y="2331720"/>
            <a:ext cx="1715963" cy="365760"/>
          </a:xfrm>
          <a:prstGeom prst="rect">
            <a:avLst/>
          </a:prstGeom>
          <a:noFill/>
        </p:spPr>
        <p:txBody>
          <a:bodyPr wrap="square" anchor="t" lIns="0" rIns="0" tIns="0" bIns="0">
            <a:spAutoFit/>
          </a:bodyPr>
          <a:lstStyle/>
          <a:p>
            <a:pPr algn="l">
              <a:spcAft>
                <a:spcPts val="600"/>
              </a:spcAft>
            </a:pPr>
            <a:r>
              <a:rPr sz="1500" b="1" i="0">
                <a:solidFill>
                  <a:srgbClr val="1B1F24"/>
                </a:solidFill>
                <a:latin typeface="Calibri"/>
              </a:rPr>
              <a:t>Demolition rubble</a:t>
            </a:r>
          </a:p>
        </p:txBody>
      </p:sp>
      <p:sp>
        <p:nvSpPr>
          <p:cNvPr id="8" name="TextBox 7"/>
          <p:cNvSpPr txBox="1"/>
          <p:nvPr/>
        </p:nvSpPr>
        <p:spPr>
          <a:xfrm>
            <a:off x="731520" y="2651760"/>
            <a:ext cx="1715963" cy="86868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Clean concrete from demolition sites</a:t>
            </a:r>
          </a:p>
        </p:txBody>
      </p:sp>
      <p:sp>
        <p:nvSpPr>
          <p:cNvPr id="9" name="Right Arrow 8"/>
          <p:cNvSpPr/>
          <p:nvPr/>
        </p:nvSpPr>
        <p:spPr>
          <a:xfrm>
            <a:off x="2612075" y="2377440"/>
            <a:ext cx="173736" cy="228600"/>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13243" y="1691640"/>
            <a:ext cx="2036003" cy="1874519"/>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96123" y="182880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12" name="TextBox 11"/>
          <p:cNvSpPr txBox="1"/>
          <p:nvPr/>
        </p:nvSpPr>
        <p:spPr>
          <a:xfrm>
            <a:off x="2996123" y="2331720"/>
            <a:ext cx="1715963" cy="365760"/>
          </a:xfrm>
          <a:prstGeom prst="rect">
            <a:avLst/>
          </a:prstGeom>
          <a:noFill/>
        </p:spPr>
        <p:txBody>
          <a:bodyPr wrap="square" anchor="t" lIns="0" rIns="0" tIns="0" bIns="0">
            <a:spAutoFit/>
          </a:bodyPr>
          <a:lstStyle/>
          <a:p>
            <a:pPr algn="l">
              <a:spcAft>
                <a:spcPts val="600"/>
              </a:spcAft>
            </a:pPr>
            <a:r>
              <a:rPr sz="1500" b="1" i="0">
                <a:solidFill>
                  <a:srgbClr val="1B1F24"/>
                </a:solidFill>
                <a:latin typeface="Calibri"/>
              </a:rPr>
              <a:t>Certified recycler</a:t>
            </a:r>
          </a:p>
        </p:txBody>
      </p:sp>
      <p:sp>
        <p:nvSpPr>
          <p:cNvPr id="13" name="TextBox 12"/>
          <p:cNvSpPr txBox="1"/>
          <p:nvPr/>
        </p:nvSpPr>
        <p:spPr>
          <a:xfrm>
            <a:off x="2996123" y="2651760"/>
            <a:ext cx="1715963" cy="86868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Crushes and certifies coarse aggregate (BRL 2506)</a:t>
            </a:r>
          </a:p>
        </p:txBody>
      </p:sp>
      <p:sp>
        <p:nvSpPr>
          <p:cNvPr id="14" name="Right Arrow 13"/>
          <p:cNvSpPr/>
          <p:nvPr/>
        </p:nvSpPr>
        <p:spPr>
          <a:xfrm>
            <a:off x="4876678" y="2377440"/>
            <a:ext cx="173736" cy="228600"/>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77846" y="1691640"/>
            <a:ext cx="2036003" cy="1874519"/>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60726" y="182880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3</a:t>
            </a:r>
          </a:p>
        </p:txBody>
      </p:sp>
      <p:sp>
        <p:nvSpPr>
          <p:cNvPr id="17" name="TextBox 16"/>
          <p:cNvSpPr txBox="1"/>
          <p:nvPr/>
        </p:nvSpPr>
        <p:spPr>
          <a:xfrm>
            <a:off x="5260726" y="2331720"/>
            <a:ext cx="1715963" cy="365760"/>
          </a:xfrm>
          <a:prstGeom prst="rect">
            <a:avLst/>
          </a:prstGeom>
          <a:noFill/>
        </p:spPr>
        <p:txBody>
          <a:bodyPr wrap="square" anchor="t" lIns="0" rIns="0" tIns="0" bIns="0">
            <a:spAutoFit/>
          </a:bodyPr>
          <a:lstStyle/>
          <a:p>
            <a:pPr algn="l">
              <a:spcAft>
                <a:spcPts val="600"/>
              </a:spcAft>
            </a:pPr>
            <a:r>
              <a:rPr sz="1500" b="1" i="0">
                <a:solidFill>
                  <a:srgbClr val="1B1F24"/>
                </a:solidFill>
                <a:latin typeface="Calibri"/>
              </a:rPr>
              <a:t>Recycled aggregate</a:t>
            </a:r>
          </a:p>
        </p:txBody>
      </p:sp>
      <p:sp>
        <p:nvSpPr>
          <p:cNvPr id="18" name="TextBox 17"/>
          <p:cNvSpPr txBox="1"/>
          <p:nvPr/>
        </p:nvSpPr>
        <p:spPr>
          <a:xfrm>
            <a:off x="5260726" y="2651760"/>
            <a:ext cx="1715963" cy="86868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We buy it at €24.5/t delivered; gravel costs €32/t</a:t>
            </a:r>
          </a:p>
        </p:txBody>
      </p:sp>
      <p:sp>
        <p:nvSpPr>
          <p:cNvPr id="19" name="Right Arrow 18"/>
          <p:cNvSpPr/>
          <p:nvPr/>
        </p:nvSpPr>
        <p:spPr>
          <a:xfrm>
            <a:off x="7141281" y="2377440"/>
            <a:ext cx="173736" cy="228600"/>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42449" y="1691640"/>
            <a:ext cx="2036003" cy="1874519"/>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25329" y="182880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4</a:t>
            </a:r>
          </a:p>
        </p:txBody>
      </p:sp>
      <p:sp>
        <p:nvSpPr>
          <p:cNvPr id="22" name="TextBox 21"/>
          <p:cNvSpPr txBox="1"/>
          <p:nvPr/>
        </p:nvSpPr>
        <p:spPr>
          <a:xfrm>
            <a:off x="7525329" y="2331720"/>
            <a:ext cx="1715963" cy="365760"/>
          </a:xfrm>
          <a:prstGeom prst="rect">
            <a:avLst/>
          </a:prstGeom>
          <a:noFill/>
        </p:spPr>
        <p:txBody>
          <a:bodyPr wrap="square" anchor="t" lIns="0" rIns="0" tIns="0" bIns="0">
            <a:spAutoFit/>
          </a:bodyPr>
          <a:lstStyle/>
          <a:p>
            <a:pPr algn="l">
              <a:spcAft>
                <a:spcPts val="600"/>
              </a:spcAft>
            </a:pPr>
            <a:r>
              <a:rPr sz="1500" b="1" i="0">
                <a:solidFill>
                  <a:srgbClr val="1B1F24"/>
                </a:solidFill>
                <a:latin typeface="Calibri"/>
              </a:rPr>
              <a:t>Our mixing plant</a:t>
            </a:r>
          </a:p>
        </p:txBody>
      </p:sp>
      <p:sp>
        <p:nvSpPr>
          <p:cNvPr id="23" name="TextBox 22"/>
          <p:cNvSpPr txBox="1"/>
          <p:nvPr/>
        </p:nvSpPr>
        <p:spPr>
          <a:xfrm>
            <a:off x="7525329" y="2651760"/>
            <a:ext cx="1715963" cy="86868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120 m³/h, waterside, Zuid-Holland, CEM III/B</a:t>
            </a:r>
          </a:p>
        </p:txBody>
      </p:sp>
      <p:sp>
        <p:nvSpPr>
          <p:cNvPr id="24" name="Right Arrow 23"/>
          <p:cNvSpPr/>
          <p:nvPr/>
        </p:nvSpPr>
        <p:spPr>
          <a:xfrm>
            <a:off x="9405884" y="2377440"/>
            <a:ext cx="173736" cy="228600"/>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07052" y="1691640"/>
            <a:ext cx="2036003" cy="1874519"/>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89932" y="182880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5</a:t>
            </a:r>
          </a:p>
        </p:txBody>
      </p:sp>
      <p:sp>
        <p:nvSpPr>
          <p:cNvPr id="27" name="TextBox 26"/>
          <p:cNvSpPr txBox="1"/>
          <p:nvPr/>
        </p:nvSpPr>
        <p:spPr>
          <a:xfrm>
            <a:off x="9789932" y="2331720"/>
            <a:ext cx="1715963" cy="365760"/>
          </a:xfrm>
          <a:prstGeom prst="rect">
            <a:avLst/>
          </a:prstGeom>
          <a:noFill/>
        </p:spPr>
        <p:txBody>
          <a:bodyPr wrap="square" anchor="t" lIns="0" rIns="0" tIns="0" bIns="0">
            <a:spAutoFit/>
          </a:bodyPr>
          <a:lstStyle/>
          <a:p>
            <a:pPr algn="l">
              <a:spcAft>
                <a:spcPts val="600"/>
              </a:spcAft>
            </a:pPr>
            <a:r>
              <a:rPr sz="1500" b="1" i="0">
                <a:solidFill>
                  <a:srgbClr val="1B1F24"/>
                </a:solidFill>
                <a:latin typeface="Calibri"/>
              </a:rPr>
              <a:t>Delivery</a:t>
            </a:r>
          </a:p>
        </p:txBody>
      </p:sp>
      <p:sp>
        <p:nvSpPr>
          <p:cNvPr id="28" name="TextBox 27"/>
          <p:cNvSpPr txBox="1"/>
          <p:nvPr/>
        </p:nvSpPr>
        <p:spPr>
          <a:xfrm>
            <a:off x="9789932" y="2651760"/>
            <a:ext cx="1715963" cy="86868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Subcontracted truck mixers, ~20 km to contractors</a:t>
            </a:r>
          </a:p>
        </p:txBody>
      </p:sp>
      <p:sp>
        <p:nvSpPr>
          <p:cNvPr id="29" name="TextBox 28"/>
          <p:cNvSpPr txBox="1"/>
          <p:nvPr/>
        </p:nvSpPr>
        <p:spPr>
          <a:xfrm>
            <a:off x="548640" y="3840480"/>
            <a:ext cx="5364327" cy="411480"/>
          </a:xfrm>
          <a:prstGeom prst="rect">
            <a:avLst/>
          </a:prstGeom>
          <a:noFill/>
        </p:spPr>
        <p:txBody>
          <a:bodyPr wrap="square" anchor="t" lIns="0" rIns="0" tIns="0" bIns="0">
            <a:spAutoFit/>
          </a:bodyPr>
          <a:lstStyle/>
          <a:p>
            <a:pPr algn="l">
              <a:spcAft>
                <a:spcPts val="600"/>
              </a:spcAft>
            </a:pPr>
            <a:r>
              <a:rPr sz="1800" b="1" i="0">
                <a:solidFill>
                  <a:srgbClr val="2A78D6"/>
                </a:solidFill>
                <a:latin typeface="Calibri"/>
              </a:rPr>
              <a:t>What it is</a:t>
            </a:r>
          </a:p>
        </p:txBody>
      </p:sp>
      <p:sp>
        <p:nvSpPr>
          <p:cNvPr id="30" name="TextBox 29"/>
          <p:cNvSpPr txBox="1"/>
          <p:nvPr/>
        </p:nvSpPr>
        <p:spPr>
          <a:xfrm>
            <a:off x="548640" y="4297680"/>
            <a:ext cx="5364327" cy="1920240"/>
          </a:xfrm>
          <a:prstGeom prst="rect">
            <a:avLst/>
          </a:prstGeom>
          <a:noFill/>
        </p:spPr>
        <p:txBody>
          <a:bodyPr wrap="square" anchor="t" lIns="0" rIns="0" tIns="0" bIns="0">
            <a:spAutoFit/>
          </a:bodyPr>
          <a:lstStyle/>
          <a:p>
            <a:pPr algn="l">
              <a:spcAft>
                <a:spcPts val="700"/>
              </a:spcAft>
            </a:pPr>
            <a:r>
              <a:rPr sz="1500" b="0" i="0">
                <a:solidFill>
                  <a:srgbClr val="1B1F24"/>
                </a:solidFill>
                <a:latin typeface="Calibri"/>
              </a:rPr>
              <a:t>• 70,000 m³ a year at full output (from 2030); 60% circular mixes, 40% standard.</a:t>
            </a:r>
          </a:p>
          <a:p>
            <a:pPr algn="l">
              <a:spcAft>
                <a:spcPts val="700"/>
              </a:spcAft>
            </a:pPr>
            <a:r>
              <a:rPr sz="1500" b="0" i="0">
                <a:solidFill>
                  <a:srgbClr val="1B1F24"/>
                </a:solidFill>
                <a:latin typeface="Calibri"/>
              </a:rPr>
              <a:t>• Circular mix: 50% of the coarse aggregate is recycled (560 kg per m³).</a:t>
            </a:r>
          </a:p>
          <a:p>
            <a:pPr algn="l">
              <a:spcAft>
                <a:spcPts val="700"/>
              </a:spcAft>
            </a:pPr>
            <a:r>
              <a:rPr sz="1500" b="0" i="0">
                <a:solidFill>
                  <a:srgbClr val="1B1F24"/>
                </a:solidFill>
                <a:latin typeface="Calibri"/>
              </a:rPr>
              <a:t>• Capex €5.5M; 10 staff; trucks subcontracted.</a:t>
            </a:r>
          </a:p>
          <a:p>
            <a:pPr algn="l">
              <a:spcAft>
                <a:spcPts val="700"/>
              </a:spcAft>
            </a:pPr>
            <a:r>
              <a:rPr sz="1500" b="0" i="0">
                <a:solidFill>
                  <a:srgbClr val="1B1F24"/>
                </a:solidFill>
                <a:latin typeface="Calibri"/>
              </a:rPr>
              <a:t>• Price: €135/m³ plant average, the same as a standard mix.</a:t>
            </a:r>
          </a:p>
        </p:txBody>
      </p:sp>
      <p:sp>
        <p:nvSpPr>
          <p:cNvPr id="31" name="TextBox 30"/>
          <p:cNvSpPr txBox="1"/>
          <p:nvPr/>
        </p:nvSpPr>
        <p:spPr>
          <a:xfrm>
            <a:off x="6278727" y="3840480"/>
            <a:ext cx="5364327" cy="411480"/>
          </a:xfrm>
          <a:prstGeom prst="rect">
            <a:avLst/>
          </a:prstGeom>
          <a:noFill/>
        </p:spPr>
        <p:txBody>
          <a:bodyPr wrap="square" anchor="t" lIns="0" rIns="0" tIns="0" bIns="0">
            <a:spAutoFit/>
          </a:bodyPr>
          <a:lstStyle/>
          <a:p>
            <a:pPr algn="l">
              <a:spcAft>
                <a:spcPts val="600"/>
              </a:spcAft>
            </a:pPr>
            <a:r>
              <a:rPr sz="1800" b="1" i="0">
                <a:solidFill>
                  <a:srgbClr val="2A78D6"/>
                </a:solidFill>
                <a:latin typeface="Calibri"/>
              </a:rPr>
              <a:t>What it is not</a:t>
            </a:r>
          </a:p>
        </p:txBody>
      </p:sp>
      <p:sp>
        <p:nvSpPr>
          <p:cNvPr id="32" name="TextBox 31"/>
          <p:cNvSpPr txBox="1"/>
          <p:nvPr/>
        </p:nvSpPr>
        <p:spPr>
          <a:xfrm>
            <a:off x="6278727" y="4297680"/>
            <a:ext cx="5364327" cy="1920240"/>
          </a:xfrm>
          <a:prstGeom prst="rect">
            <a:avLst/>
          </a:prstGeom>
          <a:noFill/>
        </p:spPr>
        <p:txBody>
          <a:bodyPr wrap="square" anchor="t" lIns="0" rIns="0" tIns="0" bIns="0">
            <a:spAutoFit/>
          </a:bodyPr>
          <a:lstStyle/>
          <a:p>
            <a:pPr algn="l">
              <a:spcAft>
                <a:spcPts val="700"/>
              </a:spcAft>
            </a:pPr>
            <a:r>
              <a:rPr sz="1500" b="0" i="0">
                <a:solidFill>
                  <a:srgbClr val="1B1F24"/>
                </a:solidFill>
                <a:latin typeface="Calibri"/>
              </a:rPr>
              <a:t>• Not lower-CO₂ than the Dutch standard: ~132 vs ~129 kg CO₂/m³.</a:t>
            </a:r>
          </a:p>
          <a:p>
            <a:pPr algn="l">
              <a:spcAft>
                <a:spcPts val="700"/>
              </a:spcAft>
            </a:pPr>
            <a:r>
              <a:rPr sz="1500" b="0" i="0">
                <a:solidFill>
                  <a:srgbClr val="1B1F24"/>
                </a:solidFill>
                <a:latin typeface="Calibri"/>
              </a:rPr>
              <a:t>• Not a premium product: base premium is 1.5% on public work only.</a:t>
            </a:r>
          </a:p>
          <a:p>
            <a:pPr algn="l">
              <a:spcAft>
                <a:spcPts val="700"/>
              </a:spcAft>
            </a:pPr>
            <a:r>
              <a:rPr sz="1500" b="0" i="0">
                <a:solidFill>
                  <a:srgbClr val="1B1F24"/>
                </a:solidFill>
                <a:latin typeface="Calibri"/>
              </a:rPr>
              <a:t>• Not a recycler: in the base case we buy recycled aggregate; own crushing is an option we tested.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The market is worth €2.5bn a year, but one plant can realistically win only about 60–70k m³</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Sources: market.md §1, §8 [ESTIMATE; ERMCO 2023 basis, CMP-43, A-MKT-30–32]; model/inputs.csv (steady-state output 70k m³, A-CST-01).</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5</a:t>
            </a:r>
          </a:p>
        </p:txBody>
      </p:sp>
      <p:sp>
        <p:nvSpPr>
          <p:cNvPr id="5" name="Rounded Rectangle 4"/>
          <p:cNvSpPr/>
          <p:nvPr/>
        </p:nvSpPr>
        <p:spPr>
          <a:xfrm>
            <a:off x="548640" y="1691640"/>
            <a:ext cx="7498079" cy="914400"/>
          </a:xfrm>
          <a:prstGeom prst="roundRect">
            <a:avLst>
              <a:gd name="adj" fmla="val 6000"/>
            </a:avLst>
          </a:prstGeom>
          <a:solidFill>
            <a:srgbClr val="D6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64792"/>
            <a:ext cx="7132319" cy="411480"/>
          </a:xfrm>
          <a:prstGeom prst="rect">
            <a:avLst/>
          </a:prstGeom>
          <a:noFill/>
        </p:spPr>
        <p:txBody>
          <a:bodyPr wrap="square" anchor="t" lIns="0" rIns="0" tIns="0" bIns="0">
            <a:spAutoFit/>
          </a:bodyPr>
          <a:lstStyle/>
          <a:p>
            <a:pPr algn="l">
              <a:spcAft>
                <a:spcPts val="600"/>
              </a:spcAft>
            </a:pPr>
            <a:r>
              <a:rPr sz="1800" b="1" i="0">
                <a:solidFill>
                  <a:srgbClr val="1B1F24"/>
                </a:solidFill>
                <a:latin typeface="Calibri"/>
              </a:rPr>
              <a:t>TAM  ≈ €2.5bn / yr</a:t>
            </a:r>
          </a:p>
        </p:txBody>
      </p:sp>
      <p:sp>
        <p:nvSpPr>
          <p:cNvPr id="7" name="TextBox 6"/>
          <p:cNvSpPr txBox="1"/>
          <p:nvPr/>
        </p:nvSpPr>
        <p:spPr>
          <a:xfrm>
            <a:off x="777240" y="2148840"/>
            <a:ext cx="7132319" cy="411480"/>
          </a:xfrm>
          <a:prstGeom prst="rect">
            <a:avLst/>
          </a:prstGeom>
          <a:noFill/>
        </p:spPr>
        <p:txBody>
          <a:bodyPr wrap="square" anchor="t" lIns="0" rIns="0" tIns="0" bIns="0">
            <a:spAutoFit/>
          </a:bodyPr>
          <a:lstStyle/>
          <a:p>
            <a:pPr algn="l">
              <a:spcAft>
                <a:spcPts val="600"/>
              </a:spcAft>
            </a:pPr>
            <a:r>
              <a:rPr sz="1400" b="0" i="0">
                <a:solidFill>
                  <a:srgbClr val="1B1F24"/>
                </a:solidFill>
                <a:latin typeface="Calibri"/>
              </a:rPr>
              <a:t>All Dutch ready-mix and prefab concrete, 11.3 Mm³</a:t>
            </a:r>
          </a:p>
        </p:txBody>
      </p:sp>
      <p:sp>
        <p:nvSpPr>
          <p:cNvPr id="8" name="Rounded Rectangle 7"/>
          <p:cNvSpPr/>
          <p:nvPr/>
        </p:nvSpPr>
        <p:spPr>
          <a:xfrm>
            <a:off x="548640" y="2788920"/>
            <a:ext cx="6492240" cy="914400"/>
          </a:xfrm>
          <a:prstGeom prst="roundRect">
            <a:avLst>
              <a:gd name="adj" fmla="val 6000"/>
            </a:avLst>
          </a:prstGeom>
          <a:solidFill>
            <a:srgbClr val="A9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62072"/>
            <a:ext cx="6126479" cy="411480"/>
          </a:xfrm>
          <a:prstGeom prst="rect">
            <a:avLst/>
          </a:prstGeom>
          <a:noFill/>
        </p:spPr>
        <p:txBody>
          <a:bodyPr wrap="square" anchor="t" lIns="0" rIns="0" tIns="0" bIns="0">
            <a:spAutoFit/>
          </a:bodyPr>
          <a:lstStyle/>
          <a:p>
            <a:pPr algn="l">
              <a:spcAft>
                <a:spcPts val="600"/>
              </a:spcAft>
            </a:pPr>
            <a:r>
              <a:rPr sz="1800" b="1" i="0">
                <a:solidFill>
                  <a:srgbClr val="1B1F24"/>
                </a:solidFill>
                <a:latin typeface="Calibri"/>
              </a:rPr>
              <a:t>SAM  ≈ €0.35bn / yr</a:t>
            </a:r>
          </a:p>
        </p:txBody>
      </p:sp>
      <p:sp>
        <p:nvSpPr>
          <p:cNvPr id="10" name="TextBox 9"/>
          <p:cNvSpPr txBox="1"/>
          <p:nvPr/>
        </p:nvSpPr>
        <p:spPr>
          <a:xfrm>
            <a:off x="777240" y="3246120"/>
            <a:ext cx="6126479" cy="411480"/>
          </a:xfrm>
          <a:prstGeom prst="rect">
            <a:avLst/>
          </a:prstGeom>
          <a:noFill/>
        </p:spPr>
        <p:txBody>
          <a:bodyPr wrap="square" anchor="t" lIns="0" rIns="0" tIns="0" bIns="0">
            <a:spAutoFit/>
          </a:bodyPr>
          <a:lstStyle/>
          <a:p>
            <a:pPr algn="l">
              <a:spcAft>
                <a:spcPts val="600"/>
              </a:spcAft>
            </a:pPr>
            <a:r>
              <a:rPr sz="1400" b="0" i="0">
                <a:solidFill>
                  <a:srgbClr val="1B1F24"/>
                </a:solidFill>
                <a:latin typeface="Calibri"/>
              </a:rPr>
              <a:t>Circular-addressable ready-mix, 2.6 Mm³ (43%)</a:t>
            </a:r>
          </a:p>
        </p:txBody>
      </p:sp>
      <p:sp>
        <p:nvSpPr>
          <p:cNvPr id="11" name="Rounded Rectangle 10"/>
          <p:cNvSpPr/>
          <p:nvPr/>
        </p:nvSpPr>
        <p:spPr>
          <a:xfrm>
            <a:off x="548640" y="3886200"/>
            <a:ext cx="5486400" cy="914400"/>
          </a:xfrm>
          <a:prstGeom prst="roundRect">
            <a:avLst>
              <a:gd name="adj" fmla="val 6000"/>
            </a:avLst>
          </a:prstGeom>
          <a:solidFill>
            <a:srgbClr val="6DA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959352"/>
            <a:ext cx="5120640" cy="411480"/>
          </a:xfrm>
          <a:prstGeom prst="rect">
            <a:avLst/>
          </a:prstGeom>
          <a:noFill/>
        </p:spPr>
        <p:txBody>
          <a:bodyPr wrap="square" anchor="t" lIns="0" rIns="0" tIns="0" bIns="0">
            <a:spAutoFit/>
          </a:bodyPr>
          <a:lstStyle/>
          <a:p>
            <a:pPr algn="l">
              <a:spcAft>
                <a:spcPts val="600"/>
              </a:spcAft>
            </a:pPr>
            <a:r>
              <a:rPr sz="1800" b="1" i="0">
                <a:solidFill>
                  <a:srgbClr val="1B1F24"/>
                </a:solidFill>
                <a:latin typeface="Calibri"/>
              </a:rPr>
              <a:t>Regional SAM  ≈ €49M / yr</a:t>
            </a:r>
          </a:p>
        </p:txBody>
      </p:sp>
      <p:sp>
        <p:nvSpPr>
          <p:cNvPr id="13" name="TextBox 12"/>
          <p:cNvSpPr txBox="1"/>
          <p:nvPr/>
        </p:nvSpPr>
        <p:spPr>
          <a:xfrm>
            <a:off x="777240" y="4343400"/>
            <a:ext cx="5120640" cy="411480"/>
          </a:xfrm>
          <a:prstGeom prst="rect">
            <a:avLst/>
          </a:prstGeom>
          <a:noFill/>
        </p:spPr>
        <p:txBody>
          <a:bodyPr wrap="square" anchor="t" lIns="0" rIns="0" tIns="0" bIns="0">
            <a:spAutoFit/>
          </a:bodyPr>
          <a:lstStyle/>
          <a:p>
            <a:pPr algn="l">
              <a:spcAft>
                <a:spcPts val="600"/>
              </a:spcAft>
            </a:pPr>
            <a:r>
              <a:rPr sz="1400" b="0" i="0">
                <a:solidFill>
                  <a:srgbClr val="1B1F24"/>
                </a:solidFill>
                <a:latin typeface="Calibri"/>
              </a:rPr>
              <a:t>Within one plant's radius in Zuid-Holland, ~0.36 Mm³</a:t>
            </a:r>
          </a:p>
        </p:txBody>
      </p:sp>
      <p:sp>
        <p:nvSpPr>
          <p:cNvPr id="14" name="Rounded Rectangle 13"/>
          <p:cNvSpPr/>
          <p:nvPr/>
        </p:nvSpPr>
        <p:spPr>
          <a:xfrm>
            <a:off x="548640" y="4983479"/>
            <a:ext cx="4480560" cy="914400"/>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056631"/>
            <a:ext cx="4114800" cy="411480"/>
          </a:xfrm>
          <a:prstGeom prst="rect">
            <a:avLst/>
          </a:prstGeom>
          <a:noFill/>
        </p:spPr>
        <p:txBody>
          <a:bodyPr wrap="square" anchor="t" lIns="0" rIns="0" tIns="0" bIns="0">
            <a:spAutoFit/>
          </a:bodyPr>
          <a:lstStyle/>
          <a:p>
            <a:pPr algn="l">
              <a:spcAft>
                <a:spcPts val="600"/>
              </a:spcAft>
            </a:pPr>
            <a:r>
              <a:rPr sz="1800" b="1" i="0">
                <a:solidFill>
                  <a:srgbClr val="FFFFFF"/>
                </a:solidFill>
                <a:latin typeface="Calibri"/>
              </a:rPr>
              <a:t>SOM  ≈ €8M / yr</a:t>
            </a:r>
          </a:p>
        </p:txBody>
      </p:sp>
      <p:sp>
        <p:nvSpPr>
          <p:cNvPr id="16" name="TextBox 15"/>
          <p:cNvSpPr txBox="1"/>
          <p:nvPr/>
        </p:nvSpPr>
        <p:spPr>
          <a:xfrm>
            <a:off x="777240" y="5440679"/>
            <a:ext cx="4114800" cy="411480"/>
          </a:xfrm>
          <a:prstGeom prst="rect">
            <a:avLst/>
          </a:prstGeom>
          <a:noFill/>
        </p:spPr>
        <p:txBody>
          <a:bodyPr wrap="square" anchor="t" lIns="0" rIns="0" tIns="0" bIns="0">
            <a:spAutoFit/>
          </a:bodyPr>
          <a:lstStyle/>
          <a:p>
            <a:pPr algn="l">
              <a:spcAft>
                <a:spcPts val="600"/>
              </a:spcAft>
            </a:pPr>
            <a:r>
              <a:rPr sz="1400" b="0" i="0">
                <a:solidFill>
                  <a:srgbClr val="FFFFFF"/>
                </a:solidFill>
                <a:latin typeface="Calibri"/>
              </a:rPr>
              <a:t>One plant: ~60k m³ a year</a:t>
            </a:r>
          </a:p>
        </p:txBody>
      </p:sp>
      <p:sp>
        <p:nvSpPr>
          <p:cNvPr id="17" name="TextBox 16"/>
          <p:cNvSpPr txBox="1"/>
          <p:nvPr/>
        </p:nvSpPr>
        <p:spPr>
          <a:xfrm>
            <a:off x="8412480" y="1691640"/>
            <a:ext cx="3230575" cy="411480"/>
          </a:xfrm>
          <a:prstGeom prst="rect">
            <a:avLst/>
          </a:prstGeom>
          <a:noFill/>
        </p:spPr>
        <p:txBody>
          <a:bodyPr wrap="square" anchor="t" lIns="0" rIns="0" tIns="0" bIns="0">
            <a:spAutoFit/>
          </a:bodyPr>
          <a:lstStyle/>
          <a:p>
            <a:pPr algn="l">
              <a:spcAft>
                <a:spcPts val="600"/>
              </a:spcAft>
            </a:pPr>
            <a:r>
              <a:rPr sz="1800" b="1" i="0">
                <a:solidFill>
                  <a:srgbClr val="2A78D6"/>
                </a:solidFill>
                <a:latin typeface="Calibri"/>
              </a:rPr>
              <a:t>Reality check</a:t>
            </a:r>
          </a:p>
        </p:txBody>
      </p:sp>
      <p:sp>
        <p:nvSpPr>
          <p:cNvPr id="18" name="TextBox 17"/>
          <p:cNvSpPr txBox="1"/>
          <p:nvPr/>
        </p:nvSpPr>
        <p:spPr>
          <a:xfrm>
            <a:off x="8412480" y="2148840"/>
            <a:ext cx="3230575" cy="3931920"/>
          </a:xfrm>
          <a:prstGeom prst="rect">
            <a:avLst/>
          </a:prstGeom>
          <a:noFill/>
        </p:spPr>
        <p:txBody>
          <a:bodyPr wrap="square" anchor="t" lIns="0" rIns="0" tIns="0" bIns="0">
            <a:spAutoFit/>
          </a:bodyPr>
          <a:lstStyle/>
          <a:p>
            <a:pPr algn="l">
              <a:spcAft>
                <a:spcPts val="900"/>
              </a:spcAft>
            </a:pPr>
            <a:r>
              <a:rPr sz="1500" b="0" i="0">
                <a:solidFill>
                  <a:srgbClr val="1B1F24"/>
                </a:solidFill>
                <a:latin typeface="Calibri"/>
              </a:rPr>
              <a:t>• Our model plant sells 70k m³ a year: 2.1× the average Dutch plant (33.7k m³).</a:t>
            </a:r>
          </a:p>
          <a:p>
            <a:pPr algn="l">
              <a:spcAft>
                <a:spcPts val="900"/>
              </a:spcAft>
            </a:pPr>
            <a:r>
              <a:rPr sz="1500" b="0" i="0">
                <a:solidFill>
                  <a:srgbClr val="1B1F24"/>
                </a:solidFill>
                <a:latin typeface="Calibri"/>
              </a:rPr>
              <a:t>• 178 plants share 6.0 Mm³; volume fell 20% in 2023.</a:t>
            </a:r>
          </a:p>
          <a:p>
            <a:pPr algn="l">
              <a:spcAft>
                <a:spcPts val="900"/>
              </a:spcAft>
            </a:pPr>
            <a:r>
              <a:rPr sz="1500" b="0" i="0">
                <a:solidFill>
                  <a:srgbClr val="1B1F24"/>
                </a:solidFill>
                <a:latin typeface="Calibri"/>
              </a:rPr>
              <a:t>• Ready-mix is local (25–50 km), so the regional figure is what counts.</a:t>
            </a:r>
          </a:p>
          <a:p>
            <a:pPr algn="l">
              <a:spcAft>
                <a:spcPts val="900"/>
              </a:spcAft>
            </a:pPr>
            <a:r>
              <a:rPr sz="1500" b="0" i="0">
                <a:solidFill>
                  <a:srgbClr val="1B1F24"/>
                </a:solidFill>
                <a:latin typeface="Calibri"/>
              </a:rPr>
              <a:t>• Recycled feedstock is plentiful; certified supply and contracts are the constraint.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Incumbents already sell recycled and low-CO₂ mixes, and a specialist has just raised €100M</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Sources: competitors.md §1–2, §9 (CMP-04, CMP-05, CMP-16, CMP-17, CMP-28, CMP-29, CMP-35, CMP-43). Ratings are analyst judgement.</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6</a:t>
            </a:r>
          </a:p>
        </p:txBody>
      </p:sp>
      <p:sp>
        <p:nvSpPr>
          <p:cNvPr id="5" name="Rounded Rectangle 4"/>
          <p:cNvSpPr/>
          <p:nvPr/>
        </p:nvSpPr>
        <p:spPr>
          <a:xfrm>
            <a:off x="548640" y="1691640"/>
            <a:ext cx="5410047" cy="141732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01368"/>
            <a:ext cx="4952847" cy="384048"/>
          </a:xfrm>
          <a:prstGeom prst="rect">
            <a:avLst/>
          </a:prstGeom>
          <a:noFill/>
        </p:spPr>
        <p:txBody>
          <a:bodyPr wrap="square" anchor="t" lIns="0" rIns="0" tIns="0" bIns="0">
            <a:spAutoFit/>
          </a:bodyPr>
          <a:lstStyle/>
          <a:p>
            <a:pPr algn="l">
              <a:spcAft>
                <a:spcPts val="600"/>
              </a:spcAft>
            </a:pPr>
            <a:r>
              <a:rPr sz="1800" b="1" i="0">
                <a:solidFill>
                  <a:srgbClr val="1B1F24"/>
                </a:solidFill>
                <a:latin typeface="Calibri"/>
              </a:rPr>
              <a:t>SL Materials (ex-Urban Mine)</a:t>
            </a:r>
          </a:p>
        </p:txBody>
      </p:sp>
      <p:sp>
        <p:nvSpPr>
          <p:cNvPr id="7" name="TextBox 6"/>
          <p:cNvSpPr txBox="1"/>
          <p:nvPr/>
        </p:nvSpPr>
        <p:spPr>
          <a:xfrm>
            <a:off x="777240" y="2167128"/>
            <a:ext cx="4952847" cy="320040"/>
          </a:xfrm>
          <a:prstGeom prst="rect">
            <a:avLst/>
          </a:prstGeom>
          <a:noFill/>
        </p:spPr>
        <p:txBody>
          <a:bodyPr wrap="square" anchor="t" lIns="0" rIns="0" tIns="0" bIns="0">
            <a:spAutoFit/>
          </a:bodyPr>
          <a:lstStyle/>
          <a:p>
            <a:pPr algn="l">
              <a:spcAft>
                <a:spcPts val="600"/>
              </a:spcAft>
            </a:pPr>
            <a:r>
              <a:rPr sz="1400" b="1" i="0">
                <a:solidFill>
                  <a:srgbClr val="2A78D6"/>
                </a:solidFill>
                <a:latin typeface="Calibri"/>
              </a:rPr>
              <a:t>Specialist · Zaandam</a:t>
            </a:r>
          </a:p>
        </p:txBody>
      </p:sp>
      <p:sp>
        <p:nvSpPr>
          <p:cNvPr id="8" name="TextBox 7"/>
          <p:cNvSpPr txBox="1"/>
          <p:nvPr/>
        </p:nvSpPr>
        <p:spPr>
          <a:xfrm>
            <a:off x="777240" y="2496312"/>
            <a:ext cx="4952847" cy="594360"/>
          </a:xfrm>
          <a:prstGeom prst="rect">
            <a:avLst/>
          </a:prstGeom>
          <a:noFill/>
        </p:spPr>
        <p:txBody>
          <a:bodyPr wrap="square" anchor="t" lIns="0" rIns="0" tIns="0" bIns="0">
            <a:spAutoFit/>
          </a:bodyPr>
          <a:lstStyle/>
          <a:p>
            <a:pPr algn="l">
              <a:spcAft>
                <a:spcPts val="600"/>
              </a:spcAft>
            </a:pPr>
            <a:r>
              <a:rPr sz="1400" b="0" i="0">
                <a:solidFill>
                  <a:srgbClr val="1B1F24"/>
                </a:solidFill>
                <a:latin typeface="Calibri"/>
              </a:rPr>
              <a:t>€100M commitment from Aviva Investors and ABN AMRO (Oct 2026). Recovers sand, gravel and cement.</a:t>
            </a:r>
          </a:p>
        </p:txBody>
      </p:sp>
      <p:sp>
        <p:nvSpPr>
          <p:cNvPr id="9" name="Rounded Rectangle 8"/>
          <p:cNvSpPr/>
          <p:nvPr/>
        </p:nvSpPr>
        <p:spPr>
          <a:xfrm>
            <a:off x="6233007" y="1691640"/>
            <a:ext cx="5410047" cy="141732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801368"/>
            <a:ext cx="4952847" cy="384048"/>
          </a:xfrm>
          <a:prstGeom prst="rect">
            <a:avLst/>
          </a:prstGeom>
          <a:noFill/>
        </p:spPr>
        <p:txBody>
          <a:bodyPr wrap="square" anchor="t" lIns="0" rIns="0" tIns="0" bIns="0">
            <a:spAutoFit/>
          </a:bodyPr>
          <a:lstStyle/>
          <a:p>
            <a:pPr algn="l">
              <a:spcAft>
                <a:spcPts val="600"/>
              </a:spcAft>
            </a:pPr>
            <a:r>
              <a:rPr sz="1800" b="1" i="0">
                <a:solidFill>
                  <a:srgbClr val="1B1F24"/>
                </a:solidFill>
                <a:latin typeface="Calibri"/>
              </a:rPr>
              <a:t>everox (ex-C2CA)</a:t>
            </a:r>
          </a:p>
        </p:txBody>
      </p:sp>
      <p:sp>
        <p:nvSpPr>
          <p:cNvPr id="11" name="TextBox 10"/>
          <p:cNvSpPr txBox="1"/>
          <p:nvPr/>
        </p:nvSpPr>
        <p:spPr>
          <a:xfrm>
            <a:off x="6461607" y="2167128"/>
            <a:ext cx="4952847" cy="320040"/>
          </a:xfrm>
          <a:prstGeom prst="rect">
            <a:avLst/>
          </a:prstGeom>
          <a:noFill/>
        </p:spPr>
        <p:txBody>
          <a:bodyPr wrap="square" anchor="t" lIns="0" rIns="0" tIns="0" bIns="0">
            <a:spAutoFit/>
          </a:bodyPr>
          <a:lstStyle/>
          <a:p>
            <a:pPr algn="l">
              <a:spcAft>
                <a:spcPts val="600"/>
              </a:spcAft>
            </a:pPr>
            <a:r>
              <a:rPr sz="1400" b="1" i="0">
                <a:solidFill>
                  <a:srgbClr val="2A78D6"/>
                </a:solidFill>
                <a:latin typeface="Calibri"/>
              </a:rPr>
              <a:t>Specialist · 's-Gravendeel</a:t>
            </a:r>
          </a:p>
        </p:txBody>
      </p:sp>
      <p:sp>
        <p:nvSpPr>
          <p:cNvPr id="12" name="TextBox 11"/>
          <p:cNvSpPr txBox="1"/>
          <p:nvPr/>
        </p:nvSpPr>
        <p:spPr>
          <a:xfrm>
            <a:off x="6461607" y="2496312"/>
            <a:ext cx="4952847" cy="594360"/>
          </a:xfrm>
          <a:prstGeom prst="rect">
            <a:avLst/>
          </a:prstGeom>
          <a:noFill/>
        </p:spPr>
        <p:txBody>
          <a:bodyPr wrap="square" anchor="t" lIns="0" rIns="0" tIns="0" bIns="0">
            <a:spAutoFit/>
          </a:bodyPr>
          <a:lstStyle/>
          <a:p>
            <a:pPr algn="l">
              <a:spcAft>
                <a:spcPts val="600"/>
              </a:spcAft>
            </a:pPr>
            <a:r>
              <a:rPr sz="1400" b="0" i="0">
                <a:solidFill>
                  <a:srgbClr val="1B1F24"/>
                </a:solidFill>
                <a:latin typeface="Calibri"/>
              </a:rPr>
              <a:t>Plant with Dura Vermeer, permitted for 100 kt/yr; delayed, still being built in Sept 2026.</a:t>
            </a:r>
          </a:p>
        </p:txBody>
      </p:sp>
      <p:sp>
        <p:nvSpPr>
          <p:cNvPr id="13" name="Rounded Rectangle 12"/>
          <p:cNvSpPr/>
          <p:nvPr/>
        </p:nvSpPr>
        <p:spPr>
          <a:xfrm>
            <a:off x="548640" y="3337560"/>
            <a:ext cx="5410047" cy="141732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47288"/>
            <a:ext cx="4952847" cy="384048"/>
          </a:xfrm>
          <a:prstGeom prst="rect">
            <a:avLst/>
          </a:prstGeom>
          <a:noFill/>
        </p:spPr>
        <p:txBody>
          <a:bodyPr wrap="square" anchor="t" lIns="0" rIns="0" tIns="0" bIns="0">
            <a:spAutoFit/>
          </a:bodyPr>
          <a:lstStyle/>
          <a:p>
            <a:pPr algn="l">
              <a:spcAft>
                <a:spcPts val="600"/>
              </a:spcAft>
            </a:pPr>
            <a:r>
              <a:rPr sz="1800" b="1" i="0">
                <a:solidFill>
                  <a:srgbClr val="1B1F24"/>
                </a:solidFill>
                <a:latin typeface="Calibri"/>
              </a:rPr>
              <a:t>Heidelberg Materials: EcoCrete</a:t>
            </a:r>
          </a:p>
        </p:txBody>
      </p:sp>
      <p:sp>
        <p:nvSpPr>
          <p:cNvPr id="15" name="TextBox 14"/>
          <p:cNvSpPr txBox="1"/>
          <p:nvPr/>
        </p:nvSpPr>
        <p:spPr>
          <a:xfrm>
            <a:off x="777240" y="3813048"/>
            <a:ext cx="4952847" cy="320040"/>
          </a:xfrm>
          <a:prstGeom prst="rect">
            <a:avLst/>
          </a:prstGeom>
          <a:noFill/>
        </p:spPr>
        <p:txBody>
          <a:bodyPr wrap="square" anchor="t" lIns="0" rIns="0" tIns="0" bIns="0">
            <a:spAutoFit/>
          </a:bodyPr>
          <a:lstStyle/>
          <a:p>
            <a:pPr algn="l">
              <a:spcAft>
                <a:spcPts val="600"/>
              </a:spcAft>
            </a:pPr>
            <a:r>
              <a:rPr sz="1400" b="1" i="0">
                <a:solidFill>
                  <a:srgbClr val="2A78D6"/>
                </a:solidFill>
                <a:latin typeface="Calibri"/>
              </a:rPr>
              <a:t>Incumbent · ~30 plants</a:t>
            </a:r>
          </a:p>
        </p:txBody>
      </p:sp>
      <p:sp>
        <p:nvSpPr>
          <p:cNvPr id="16" name="TextBox 15"/>
          <p:cNvSpPr txBox="1"/>
          <p:nvPr/>
        </p:nvSpPr>
        <p:spPr>
          <a:xfrm>
            <a:off x="777240" y="4142232"/>
            <a:ext cx="4952847" cy="594360"/>
          </a:xfrm>
          <a:prstGeom prst="rect">
            <a:avLst/>
          </a:prstGeom>
          <a:noFill/>
        </p:spPr>
        <p:txBody>
          <a:bodyPr wrap="square" anchor="t" lIns="0" rIns="0" tIns="0" bIns="0">
            <a:spAutoFit/>
          </a:bodyPr>
          <a:lstStyle/>
          <a:p>
            <a:pPr algn="l">
              <a:spcAft>
                <a:spcPts val="600"/>
              </a:spcAft>
            </a:pPr>
            <a:r>
              <a:rPr sz="1400" b="0" i="0">
                <a:solidFill>
                  <a:srgbClr val="1B1F24"/>
                </a:solidFill>
                <a:latin typeface="Calibri"/>
              </a:rPr>
              <a:t>Ready-mix with 30, 50 or 100% recycled aggregate; claims up to −70% CO₂.</a:t>
            </a:r>
          </a:p>
        </p:txBody>
      </p:sp>
      <p:sp>
        <p:nvSpPr>
          <p:cNvPr id="17" name="Rounded Rectangle 16"/>
          <p:cNvSpPr/>
          <p:nvPr/>
        </p:nvSpPr>
        <p:spPr>
          <a:xfrm>
            <a:off x="6233007" y="3337560"/>
            <a:ext cx="5410047" cy="141732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1607" y="3447288"/>
            <a:ext cx="4952847" cy="384048"/>
          </a:xfrm>
          <a:prstGeom prst="rect">
            <a:avLst/>
          </a:prstGeom>
          <a:noFill/>
        </p:spPr>
        <p:txBody>
          <a:bodyPr wrap="square" anchor="t" lIns="0" rIns="0" tIns="0" bIns="0">
            <a:spAutoFit/>
          </a:bodyPr>
          <a:lstStyle/>
          <a:p>
            <a:pPr algn="l">
              <a:spcAft>
                <a:spcPts val="600"/>
              </a:spcAft>
            </a:pPr>
            <a:r>
              <a:rPr sz="1800" b="1" i="0">
                <a:solidFill>
                  <a:srgbClr val="1B1F24"/>
                </a:solidFill>
                <a:latin typeface="Calibri"/>
              </a:rPr>
              <a:t>Holcim: ECOPact</a:t>
            </a:r>
          </a:p>
        </p:txBody>
      </p:sp>
      <p:sp>
        <p:nvSpPr>
          <p:cNvPr id="19" name="TextBox 18"/>
          <p:cNvSpPr txBox="1"/>
          <p:nvPr/>
        </p:nvSpPr>
        <p:spPr>
          <a:xfrm>
            <a:off x="6461607" y="3813048"/>
            <a:ext cx="4952847" cy="320040"/>
          </a:xfrm>
          <a:prstGeom prst="rect">
            <a:avLst/>
          </a:prstGeom>
          <a:noFill/>
        </p:spPr>
        <p:txBody>
          <a:bodyPr wrap="square" anchor="t" lIns="0" rIns="0" tIns="0" bIns="0">
            <a:spAutoFit/>
          </a:bodyPr>
          <a:lstStyle/>
          <a:p>
            <a:pPr algn="l">
              <a:spcAft>
                <a:spcPts val="600"/>
              </a:spcAft>
            </a:pPr>
            <a:r>
              <a:rPr sz="1400" b="1" i="0">
                <a:solidFill>
                  <a:srgbClr val="2A78D6"/>
                </a:solidFill>
                <a:latin typeface="Calibri"/>
              </a:rPr>
              <a:t>Incumbent · public price list</a:t>
            </a:r>
          </a:p>
        </p:txBody>
      </p:sp>
      <p:sp>
        <p:nvSpPr>
          <p:cNvPr id="20" name="TextBox 19"/>
          <p:cNvSpPr txBox="1"/>
          <p:nvPr/>
        </p:nvSpPr>
        <p:spPr>
          <a:xfrm>
            <a:off x="6461607" y="4142232"/>
            <a:ext cx="4952847" cy="594360"/>
          </a:xfrm>
          <a:prstGeom prst="rect">
            <a:avLst/>
          </a:prstGeom>
          <a:noFill/>
        </p:spPr>
        <p:txBody>
          <a:bodyPr wrap="square" anchor="t" lIns="0" rIns="0" tIns="0" bIns="0">
            <a:spAutoFit/>
          </a:bodyPr>
          <a:lstStyle/>
          <a:p>
            <a:pPr algn="l">
              <a:spcAft>
                <a:spcPts val="600"/>
              </a:spcAft>
            </a:pPr>
            <a:r>
              <a:rPr sz="1400" b="0" i="0">
                <a:solidFill>
                  <a:srgbClr val="1B1F24"/>
                </a:solidFill>
                <a:latin typeface="Calibri"/>
              </a:rPr>
              <a:t>Low-CO₂ line at only +€5–9/m³; +€4/m³ for up to 30% recycled granulate.</a:t>
            </a:r>
          </a:p>
        </p:txBody>
      </p:sp>
      <p:sp>
        <p:nvSpPr>
          <p:cNvPr id="21" name="TextBox 20"/>
          <p:cNvSpPr txBox="1"/>
          <p:nvPr/>
        </p:nvSpPr>
        <p:spPr>
          <a:xfrm>
            <a:off x="548640" y="5166360"/>
            <a:ext cx="11094415" cy="365760"/>
          </a:xfrm>
          <a:prstGeom prst="rect">
            <a:avLst/>
          </a:prstGeom>
          <a:noFill/>
        </p:spPr>
        <p:txBody>
          <a:bodyPr wrap="square" anchor="t" lIns="0" rIns="0" tIns="0" bIns="0">
            <a:spAutoFit/>
          </a:bodyPr>
          <a:lstStyle/>
          <a:p>
            <a:pPr algn="l">
              <a:spcAft>
                <a:spcPts val="600"/>
              </a:spcAft>
            </a:pPr>
            <a:r>
              <a:rPr sz="1600" b="1" i="0">
                <a:solidFill>
                  <a:srgbClr val="1B1F24"/>
                </a:solidFill>
                <a:latin typeface="Calibri"/>
              </a:rPr>
              <a:t>Five forces for a new stand-alone ready-mix entrant (5 = bad for us)</a:t>
            </a:r>
          </a:p>
        </p:txBody>
      </p:sp>
      <p:sp>
        <p:nvSpPr>
          <p:cNvPr id="22" name="Rounded Rectangle 21"/>
          <p:cNvSpPr/>
          <p:nvPr/>
        </p:nvSpPr>
        <p:spPr>
          <a:xfrm>
            <a:off x="548640" y="5577840"/>
            <a:ext cx="2072579" cy="548640"/>
          </a:xfrm>
          <a:prstGeom prst="roundRect">
            <a:avLst>
              <a:gd name="adj" fmla="val 6000"/>
            </a:avLst>
          </a:prstGeom>
          <a:noFill/>
          <a:ln w="1270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577840"/>
            <a:ext cx="1798259" cy="548640"/>
          </a:xfrm>
          <a:prstGeom prst="rect">
            <a:avLst/>
          </a:prstGeom>
          <a:noFill/>
        </p:spPr>
        <p:txBody>
          <a:bodyPr wrap="square" anchor="ctr" lIns="0" rIns="0" tIns="0" bIns="0">
            <a:spAutoFit/>
          </a:bodyPr>
          <a:lstStyle/>
          <a:p>
            <a:pPr algn="l">
              <a:spcAft>
                <a:spcPts val="0"/>
              </a:spcAft>
            </a:pPr>
            <a:r>
              <a:rPr sz="1500" b="0" i="0">
                <a:solidFill>
                  <a:srgbClr val="1B1F24"/>
                </a:solidFill>
                <a:latin typeface="Calibri"/>
              </a:rPr>
              <a:t>Rivalry  </a:t>
            </a:r>
            <a:r>
              <a:rPr sz="1500" b="1" i="0">
                <a:solidFill>
                  <a:srgbClr val="2A78D6"/>
                </a:solidFill>
                <a:latin typeface="Calibri"/>
              </a:rPr>
              <a:t>4/5</a:t>
            </a:r>
          </a:p>
        </p:txBody>
      </p:sp>
      <p:sp>
        <p:nvSpPr>
          <p:cNvPr id="24" name="Rounded Rectangle 23"/>
          <p:cNvSpPr/>
          <p:nvPr/>
        </p:nvSpPr>
        <p:spPr>
          <a:xfrm>
            <a:off x="2804099" y="5577840"/>
            <a:ext cx="2072579" cy="548640"/>
          </a:xfrm>
          <a:prstGeom prst="roundRect">
            <a:avLst>
              <a:gd name="adj" fmla="val 6000"/>
            </a:avLst>
          </a:prstGeom>
          <a:noFill/>
          <a:ln w="1270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41259" y="5577840"/>
            <a:ext cx="1798259" cy="548640"/>
          </a:xfrm>
          <a:prstGeom prst="rect">
            <a:avLst/>
          </a:prstGeom>
          <a:noFill/>
        </p:spPr>
        <p:txBody>
          <a:bodyPr wrap="square" anchor="ctr" lIns="0" rIns="0" tIns="0" bIns="0">
            <a:spAutoFit/>
          </a:bodyPr>
          <a:lstStyle/>
          <a:p>
            <a:pPr algn="l">
              <a:spcAft>
                <a:spcPts val="0"/>
              </a:spcAft>
            </a:pPr>
            <a:r>
              <a:rPr sz="1500" b="0" i="0">
                <a:solidFill>
                  <a:srgbClr val="1B1F24"/>
                </a:solidFill>
                <a:latin typeface="Calibri"/>
              </a:rPr>
              <a:t>Supplier power  </a:t>
            </a:r>
            <a:r>
              <a:rPr sz="1500" b="1" i="0">
                <a:solidFill>
                  <a:srgbClr val="2A78D6"/>
                </a:solidFill>
                <a:latin typeface="Calibri"/>
              </a:rPr>
              <a:t>4/5</a:t>
            </a:r>
          </a:p>
        </p:txBody>
      </p:sp>
      <p:sp>
        <p:nvSpPr>
          <p:cNvPr id="26" name="Rounded Rectangle 25"/>
          <p:cNvSpPr/>
          <p:nvPr/>
        </p:nvSpPr>
        <p:spPr>
          <a:xfrm>
            <a:off x="5059558" y="5577840"/>
            <a:ext cx="2072579" cy="548640"/>
          </a:xfrm>
          <a:prstGeom prst="roundRect">
            <a:avLst>
              <a:gd name="adj" fmla="val 6000"/>
            </a:avLst>
          </a:prstGeom>
          <a:noFill/>
          <a:ln w="1270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96718" y="5577840"/>
            <a:ext cx="1798259" cy="548640"/>
          </a:xfrm>
          <a:prstGeom prst="rect">
            <a:avLst/>
          </a:prstGeom>
          <a:noFill/>
        </p:spPr>
        <p:txBody>
          <a:bodyPr wrap="square" anchor="ctr" lIns="0" rIns="0" tIns="0" bIns="0">
            <a:spAutoFit/>
          </a:bodyPr>
          <a:lstStyle/>
          <a:p>
            <a:pPr algn="l">
              <a:spcAft>
                <a:spcPts val="0"/>
              </a:spcAft>
            </a:pPr>
            <a:r>
              <a:rPr sz="1500" b="0" i="0">
                <a:solidFill>
                  <a:srgbClr val="1B1F24"/>
                </a:solidFill>
                <a:latin typeface="Calibri"/>
              </a:rPr>
              <a:t>Buyer power  </a:t>
            </a:r>
            <a:r>
              <a:rPr sz="1500" b="1" i="0">
                <a:solidFill>
                  <a:srgbClr val="2A78D6"/>
                </a:solidFill>
                <a:latin typeface="Calibri"/>
              </a:rPr>
              <a:t>4/5</a:t>
            </a:r>
          </a:p>
        </p:txBody>
      </p:sp>
      <p:sp>
        <p:nvSpPr>
          <p:cNvPr id="28" name="Rounded Rectangle 27"/>
          <p:cNvSpPr/>
          <p:nvPr/>
        </p:nvSpPr>
        <p:spPr>
          <a:xfrm>
            <a:off x="7315017" y="5577840"/>
            <a:ext cx="2072579" cy="548640"/>
          </a:xfrm>
          <a:prstGeom prst="roundRect">
            <a:avLst>
              <a:gd name="adj" fmla="val 6000"/>
            </a:avLst>
          </a:prstGeom>
          <a:noFill/>
          <a:ln w="1270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2177" y="5577840"/>
            <a:ext cx="1798259" cy="548640"/>
          </a:xfrm>
          <a:prstGeom prst="rect">
            <a:avLst/>
          </a:prstGeom>
          <a:noFill/>
        </p:spPr>
        <p:txBody>
          <a:bodyPr wrap="square" anchor="ctr" lIns="0" rIns="0" tIns="0" bIns="0">
            <a:spAutoFit/>
          </a:bodyPr>
          <a:lstStyle/>
          <a:p>
            <a:pPr algn="l">
              <a:spcAft>
                <a:spcPts val="0"/>
              </a:spcAft>
            </a:pPr>
            <a:r>
              <a:rPr sz="1500" b="0" i="0">
                <a:solidFill>
                  <a:srgbClr val="1B1F24"/>
                </a:solidFill>
                <a:latin typeface="Calibri"/>
              </a:rPr>
              <a:t>New entrants  </a:t>
            </a:r>
            <a:r>
              <a:rPr sz="1500" b="1" i="0">
                <a:solidFill>
                  <a:srgbClr val="2A78D6"/>
                </a:solidFill>
                <a:latin typeface="Calibri"/>
              </a:rPr>
              <a:t>3/5</a:t>
            </a:r>
          </a:p>
        </p:txBody>
      </p:sp>
      <p:sp>
        <p:nvSpPr>
          <p:cNvPr id="30" name="Rounded Rectangle 29"/>
          <p:cNvSpPr/>
          <p:nvPr/>
        </p:nvSpPr>
        <p:spPr>
          <a:xfrm>
            <a:off x="9570476" y="5577840"/>
            <a:ext cx="2072579" cy="548640"/>
          </a:xfrm>
          <a:prstGeom prst="roundRect">
            <a:avLst>
              <a:gd name="adj" fmla="val 6000"/>
            </a:avLst>
          </a:prstGeom>
          <a:noFill/>
          <a:ln w="1270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07636" y="5577840"/>
            <a:ext cx="1798259" cy="548640"/>
          </a:xfrm>
          <a:prstGeom prst="rect">
            <a:avLst/>
          </a:prstGeom>
          <a:noFill/>
        </p:spPr>
        <p:txBody>
          <a:bodyPr wrap="square" anchor="ctr" lIns="0" rIns="0" tIns="0" bIns="0">
            <a:spAutoFit/>
          </a:bodyPr>
          <a:lstStyle/>
          <a:p>
            <a:pPr algn="l">
              <a:spcAft>
                <a:spcPts val="0"/>
              </a:spcAft>
            </a:pPr>
            <a:r>
              <a:rPr sz="1500" b="0" i="0">
                <a:solidFill>
                  <a:srgbClr val="1B1F24"/>
                </a:solidFill>
                <a:latin typeface="Calibri"/>
              </a:rPr>
              <a:t>Substitutes  </a:t>
            </a:r>
            <a:r>
              <a:rPr sz="1500" b="1" i="0">
                <a:solidFill>
                  <a:srgbClr val="2A78D6"/>
                </a:solidFill>
                <a:latin typeface="Calibri"/>
              </a:rPr>
              <a:t>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Our circular mix is €2.5/m³ cheaper to make, but every mix leaves only a thin margin</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 model UnitEconomics sheet, 2030 (first full-output year), model_summary.md §2; chart model/charts/unit_cost_stack.png (full cost incl. depreciation).</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7</a:t>
            </a:r>
          </a:p>
        </p:txBody>
      </p:sp>
      <p:sp>
        <p:nvSpPr>
          <p:cNvPr id="5" name="Chart caption"/>
          <p:cNvSpPr txBox="1"/>
          <p:nvPr/>
        </p:nvSpPr>
        <p:spPr>
          <a:xfrm>
            <a:off x="548640" y="1572768"/>
            <a:ext cx="8412480" cy="32004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 per m³ delivered in 2030 (first full year, 70k m³). Black line = selling price; cost includes depreciation.</a:t>
            </a:r>
          </a:p>
        </p:txBody>
      </p:sp>
      <p:pic>
        <p:nvPicPr>
          <p:cNvPr id="6" name="Picture 5" descr="Stacked cost per m3 in 2030 for circular mix, standard mix and plant average, with selling price lines"/>
          <p:cNvPicPr>
            <a:picLocks noChangeAspect="1"/>
          </p:cNvPicPr>
          <p:nvPr/>
        </p:nvPicPr>
        <p:blipFill>
          <a:blip r:embed="rId3"/>
          <a:stretch>
            <a:fillRect/>
          </a:stretch>
        </p:blipFill>
        <p:spPr>
          <a:xfrm>
            <a:off x="457200" y="2465663"/>
            <a:ext cx="8503920" cy="3252552"/>
          </a:xfrm>
          <a:prstGeom prst="rect">
            <a:avLst/>
          </a:prstGeom>
        </p:spPr>
      </p:pic>
      <p:sp>
        <p:nvSpPr>
          <p:cNvPr id="7" name="Rounded Rectangle 6"/>
          <p:cNvSpPr/>
          <p:nvPr/>
        </p:nvSpPr>
        <p:spPr>
          <a:xfrm>
            <a:off x="9189719" y="1691640"/>
            <a:ext cx="2453335"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72599" y="1828800"/>
            <a:ext cx="2087575" cy="68580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−€2.5/m³</a:t>
            </a:r>
          </a:p>
        </p:txBody>
      </p:sp>
      <p:sp>
        <p:nvSpPr>
          <p:cNvPr id="9" name="TextBox 8"/>
          <p:cNvSpPr txBox="1"/>
          <p:nvPr/>
        </p:nvSpPr>
        <p:spPr>
          <a:xfrm>
            <a:off x="9372599" y="2273300"/>
            <a:ext cx="2087575" cy="652779"/>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cash cost of the circular mix vs the standard mix (131.6 vs 134.1)</a:t>
            </a:r>
          </a:p>
        </p:txBody>
      </p:sp>
      <p:sp>
        <p:nvSpPr>
          <p:cNvPr id="10" name="Rounded Rectangle 9"/>
          <p:cNvSpPr/>
          <p:nvPr/>
        </p:nvSpPr>
        <p:spPr>
          <a:xfrm>
            <a:off x="9189719" y="3200400"/>
            <a:ext cx="2453335"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72599" y="3337560"/>
            <a:ext cx="2087575" cy="68580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+€0.8/m³</a:t>
            </a:r>
          </a:p>
        </p:txBody>
      </p:sp>
      <p:sp>
        <p:nvSpPr>
          <p:cNvPr id="12" name="TextBox 11"/>
          <p:cNvSpPr txBox="1"/>
          <p:nvPr/>
        </p:nvSpPr>
        <p:spPr>
          <a:xfrm>
            <a:off x="9372599" y="3782060"/>
            <a:ext cx="2087575" cy="652779"/>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green premium on circular volume (1.5% on public work only)</a:t>
            </a:r>
          </a:p>
        </p:txBody>
      </p:sp>
      <p:sp>
        <p:nvSpPr>
          <p:cNvPr id="13" name="Rounded Rectangle 12"/>
          <p:cNvSpPr/>
          <p:nvPr/>
        </p:nvSpPr>
        <p:spPr>
          <a:xfrm>
            <a:off x="9189719" y="4709160"/>
            <a:ext cx="2453335"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72599" y="4846320"/>
            <a:ext cx="2087575" cy="68580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€4.6/m³</a:t>
            </a:r>
          </a:p>
        </p:txBody>
      </p:sp>
      <p:sp>
        <p:nvSpPr>
          <p:cNvPr id="15" name="TextBox 14"/>
          <p:cNvSpPr txBox="1"/>
          <p:nvPr/>
        </p:nvSpPr>
        <p:spPr>
          <a:xfrm>
            <a:off x="9372599" y="5290820"/>
            <a:ext cx="2087575" cy="652779"/>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plant-average EBITDA in 2030, a 3.4% margin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The plant earns €4.6 per m³ but needs about €11.7 per m³ to pay back its capital</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 model_summary.md §2 (capital recovery over 10 years at 8% real); chart deck/charts/ebitda_by_year.png; pass-through rates are key judgement calls (A-POL-09, A-CST-13).</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8</a:t>
            </a:r>
          </a:p>
        </p:txBody>
      </p:sp>
      <p:sp>
        <p:nvSpPr>
          <p:cNvPr id="5" name="Chart caption"/>
          <p:cNvSpPr txBox="1"/>
          <p:nvPr/>
        </p:nvSpPr>
        <p:spPr>
          <a:xfrm>
            <a:off x="548640" y="1572768"/>
            <a:ext cx="7589520" cy="32004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EBITDA per year, € million (margin as % of revenue). Volume 35k / 55k / 70k m³ in 2028 / 2029 / 2030+.</a:t>
            </a:r>
          </a:p>
        </p:txBody>
      </p:sp>
      <p:pic>
        <p:nvPicPr>
          <p:cNvPr id="6" name="Picture 5" descr="EBITDA by year 2028-2036: negative in 2028 and 2029, then 0.32M in 2030 falling to 0.19M"/>
          <p:cNvPicPr>
            <a:picLocks noChangeAspect="1"/>
          </p:cNvPicPr>
          <p:nvPr/>
        </p:nvPicPr>
        <p:blipFill>
          <a:blip r:embed="rId3"/>
          <a:stretch>
            <a:fillRect/>
          </a:stretch>
        </p:blipFill>
        <p:spPr>
          <a:xfrm>
            <a:off x="581583" y="1965960"/>
            <a:ext cx="7432193" cy="4251960"/>
          </a:xfrm>
          <a:prstGeom prst="rect">
            <a:avLst/>
          </a:prstGeom>
        </p:spPr>
      </p:pic>
      <p:sp>
        <p:nvSpPr>
          <p:cNvPr id="7" name="TextBox 6"/>
          <p:cNvSpPr txBox="1"/>
          <p:nvPr/>
        </p:nvSpPr>
        <p:spPr>
          <a:xfrm>
            <a:off x="8412480" y="1691640"/>
            <a:ext cx="3230575" cy="411480"/>
          </a:xfrm>
          <a:prstGeom prst="rect">
            <a:avLst/>
          </a:prstGeom>
          <a:noFill/>
        </p:spPr>
        <p:txBody>
          <a:bodyPr wrap="square" anchor="t" lIns="0" rIns="0" tIns="0" bIns="0">
            <a:spAutoFit/>
          </a:bodyPr>
          <a:lstStyle/>
          <a:p>
            <a:pPr algn="l">
              <a:spcAft>
                <a:spcPts val="600"/>
              </a:spcAft>
            </a:pPr>
            <a:r>
              <a:rPr sz="1800" b="1" i="0">
                <a:solidFill>
                  <a:srgbClr val="2A78D6"/>
                </a:solidFill>
                <a:latin typeface="Calibri"/>
              </a:rPr>
              <a:t>Per m³, 2030</a:t>
            </a:r>
          </a:p>
        </p:txBody>
      </p:sp>
      <p:sp>
        <p:nvSpPr>
          <p:cNvPr id="8" name="TextBox 7"/>
          <p:cNvSpPr txBox="1"/>
          <p:nvPr/>
        </p:nvSpPr>
        <p:spPr>
          <a:xfrm>
            <a:off x="8412480" y="2240280"/>
            <a:ext cx="3230575" cy="320040"/>
          </a:xfrm>
          <a:prstGeom prst="rect">
            <a:avLst/>
          </a:prstGeom>
          <a:noFill/>
        </p:spPr>
        <p:txBody>
          <a:bodyPr wrap="square" anchor="t" lIns="0" rIns="0" tIns="0" bIns="0">
            <a:spAutoFit/>
          </a:bodyPr>
          <a:lstStyle/>
          <a:p>
            <a:pPr algn="l">
              <a:spcAft>
                <a:spcPts val="600"/>
              </a:spcAft>
            </a:pPr>
            <a:r>
              <a:rPr sz="1400" b="0" i="0">
                <a:solidFill>
                  <a:srgbClr val="5F6368"/>
                </a:solidFill>
                <a:latin typeface="Calibri"/>
              </a:rPr>
              <a:t>Earned (EBITDA)</a:t>
            </a:r>
          </a:p>
        </p:txBody>
      </p:sp>
      <p:sp>
        <p:nvSpPr>
          <p:cNvPr id="9" name="Rectangle 8"/>
          <p:cNvSpPr/>
          <p:nvPr/>
        </p:nvSpPr>
        <p:spPr>
          <a:xfrm>
            <a:off x="8412480" y="2587752"/>
            <a:ext cx="1042572" cy="4114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46492" y="2569464"/>
            <a:ext cx="914400" cy="457200"/>
          </a:xfrm>
          <a:prstGeom prst="rect">
            <a:avLst/>
          </a:prstGeom>
          <a:noFill/>
        </p:spPr>
        <p:txBody>
          <a:bodyPr wrap="square" anchor="ctr" lIns="0" rIns="0" tIns="0" bIns="0">
            <a:spAutoFit/>
          </a:bodyPr>
          <a:lstStyle/>
          <a:p>
            <a:pPr algn="l">
              <a:spcAft>
                <a:spcPts val="600"/>
              </a:spcAft>
            </a:pPr>
            <a:r>
              <a:rPr sz="1800" b="1" i="0">
                <a:solidFill>
                  <a:srgbClr val="1B1F24"/>
                </a:solidFill>
                <a:latin typeface="Calibri"/>
              </a:rPr>
              <a:t>€4.6</a:t>
            </a:r>
          </a:p>
        </p:txBody>
      </p:sp>
      <p:sp>
        <p:nvSpPr>
          <p:cNvPr id="11" name="TextBox 10"/>
          <p:cNvSpPr txBox="1"/>
          <p:nvPr/>
        </p:nvSpPr>
        <p:spPr>
          <a:xfrm>
            <a:off x="8412480" y="3200400"/>
            <a:ext cx="3230575" cy="320040"/>
          </a:xfrm>
          <a:prstGeom prst="rect">
            <a:avLst/>
          </a:prstGeom>
          <a:noFill/>
        </p:spPr>
        <p:txBody>
          <a:bodyPr wrap="square" anchor="t" lIns="0" rIns="0" tIns="0" bIns="0">
            <a:spAutoFit/>
          </a:bodyPr>
          <a:lstStyle/>
          <a:p>
            <a:pPr algn="l">
              <a:spcAft>
                <a:spcPts val="600"/>
              </a:spcAft>
            </a:pPr>
            <a:r>
              <a:rPr sz="1400" b="0" i="0">
                <a:solidFill>
                  <a:srgbClr val="5F6368"/>
                </a:solidFill>
                <a:latin typeface="Calibri"/>
              </a:rPr>
              <a:t>Needed to repay capex</a:t>
            </a:r>
          </a:p>
        </p:txBody>
      </p:sp>
      <p:sp>
        <p:nvSpPr>
          <p:cNvPr id="12" name="Rectangle 11"/>
          <p:cNvSpPr/>
          <p:nvPr/>
        </p:nvSpPr>
        <p:spPr>
          <a:xfrm>
            <a:off x="8412480" y="3547872"/>
            <a:ext cx="2651760" cy="411480"/>
          </a:xfrm>
          <a:prstGeom prst="rect">
            <a:avLst/>
          </a:prstGeom>
          <a:solidFill>
            <a:srgbClr val="142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0" y="3529584"/>
            <a:ext cx="914400" cy="457200"/>
          </a:xfrm>
          <a:prstGeom prst="rect">
            <a:avLst/>
          </a:prstGeom>
          <a:noFill/>
        </p:spPr>
        <p:txBody>
          <a:bodyPr wrap="square" anchor="ctr" lIns="0" rIns="0" tIns="0" bIns="0">
            <a:spAutoFit/>
          </a:bodyPr>
          <a:lstStyle/>
          <a:p>
            <a:pPr algn="l">
              <a:spcAft>
                <a:spcPts val="600"/>
              </a:spcAft>
            </a:pPr>
            <a:r>
              <a:rPr sz="1800" b="1" i="0">
                <a:solidFill>
                  <a:srgbClr val="1B1F24"/>
                </a:solidFill>
                <a:latin typeface="Calibri"/>
              </a:rPr>
              <a:t>€11.7</a:t>
            </a:r>
          </a:p>
        </p:txBody>
      </p:sp>
      <p:sp>
        <p:nvSpPr>
          <p:cNvPr id="14" name="Rounded Rectangle 13"/>
          <p:cNvSpPr/>
          <p:nvPr/>
        </p:nvSpPr>
        <p:spPr>
          <a:xfrm>
            <a:off x="8412480" y="4343400"/>
            <a:ext cx="3230575" cy="169164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59" y="4434840"/>
            <a:ext cx="2864815" cy="54864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Gap ≈ €7/m³</a:t>
            </a:r>
          </a:p>
        </p:txBody>
      </p:sp>
      <p:sp>
        <p:nvSpPr>
          <p:cNvPr id="16" name="TextBox 15"/>
          <p:cNvSpPr txBox="1"/>
          <p:nvPr/>
        </p:nvSpPr>
        <p:spPr>
          <a:xfrm>
            <a:off x="8595359" y="4983480"/>
            <a:ext cx="2864815" cy="1005840"/>
          </a:xfrm>
          <a:prstGeom prst="rect">
            <a:avLst/>
          </a:prstGeom>
          <a:noFill/>
        </p:spPr>
        <p:txBody>
          <a:bodyPr wrap="square" anchor="t" lIns="0" rIns="0" tIns="0" bIns="0">
            <a:spAutoFit/>
          </a:bodyPr>
          <a:lstStyle/>
          <a:p>
            <a:pPr algn="l">
              <a:spcAft>
                <a:spcPts val="600"/>
              </a:spcAft>
            </a:pPr>
            <a:r>
              <a:rPr sz="1500" b="0" i="0">
                <a:solidFill>
                  <a:srgbClr val="1B1F24"/>
                </a:solidFill>
                <a:latin typeface="Calibri"/>
              </a:rPr>
              <a:t>about 5% of the selling price, every year, in a mature market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The base case destroys €5.33M of value and needs €7.09M of funding</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 model/results.json (base case: permits 2026, build 2027, first sales 2028; unlevered; salvage-only terminal value); chart deck/charts/cashflow_10yr.png.</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9</a:t>
            </a:r>
          </a:p>
        </p:txBody>
      </p:sp>
      <p:sp>
        <p:nvSpPr>
          <p:cNvPr id="5" name="Rounded Rectangle 4"/>
          <p:cNvSpPr/>
          <p:nvPr/>
        </p:nvSpPr>
        <p:spPr>
          <a:xfrm>
            <a:off x="548640" y="1691640"/>
            <a:ext cx="2057400" cy="132588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1691640" cy="685800"/>
          </a:xfrm>
          <a:prstGeom prst="rect">
            <a:avLst/>
          </a:prstGeom>
          <a:noFill/>
        </p:spPr>
        <p:txBody>
          <a:bodyPr wrap="square" anchor="t" lIns="0" rIns="0" tIns="0" bIns="0">
            <a:spAutoFit/>
          </a:bodyPr>
          <a:lstStyle/>
          <a:p>
            <a:pPr algn="l">
              <a:spcAft>
                <a:spcPts val="600"/>
              </a:spcAft>
            </a:pPr>
            <a:r>
              <a:rPr sz="2400" b="1" i="0">
                <a:solidFill>
                  <a:srgbClr val="2A78D6"/>
                </a:solidFill>
                <a:latin typeface="Calibri"/>
              </a:rPr>
              <a:t>−€5.33M</a:t>
            </a:r>
          </a:p>
        </p:txBody>
      </p:sp>
      <p:sp>
        <p:nvSpPr>
          <p:cNvPr id="7" name="TextBox 6"/>
          <p:cNvSpPr txBox="1"/>
          <p:nvPr/>
        </p:nvSpPr>
        <p:spPr>
          <a:xfrm>
            <a:off x="731520" y="2209800"/>
            <a:ext cx="1691640" cy="670560"/>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NPV at 8% real (−97% of capex)</a:t>
            </a:r>
          </a:p>
        </p:txBody>
      </p:sp>
      <p:sp>
        <p:nvSpPr>
          <p:cNvPr id="8" name="Rounded Rectangle 7"/>
          <p:cNvSpPr/>
          <p:nvPr/>
        </p:nvSpPr>
        <p:spPr>
          <a:xfrm>
            <a:off x="2788920" y="1691640"/>
            <a:ext cx="2057400" cy="132588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1828800"/>
            <a:ext cx="1691640" cy="685800"/>
          </a:xfrm>
          <a:prstGeom prst="rect">
            <a:avLst/>
          </a:prstGeom>
          <a:noFill/>
        </p:spPr>
        <p:txBody>
          <a:bodyPr wrap="square" anchor="t" lIns="0" rIns="0" tIns="0" bIns="0">
            <a:spAutoFit/>
          </a:bodyPr>
          <a:lstStyle/>
          <a:p>
            <a:pPr algn="l">
              <a:spcAft>
                <a:spcPts val="600"/>
              </a:spcAft>
            </a:pPr>
            <a:r>
              <a:rPr sz="2400" b="1" i="0">
                <a:solidFill>
                  <a:srgbClr val="2A78D6"/>
                </a:solidFill>
                <a:latin typeface="Calibri"/>
              </a:rPr>
              <a:t>−13.9%</a:t>
            </a:r>
          </a:p>
        </p:txBody>
      </p:sp>
      <p:sp>
        <p:nvSpPr>
          <p:cNvPr id="10" name="TextBox 9"/>
          <p:cNvSpPr txBox="1"/>
          <p:nvPr/>
        </p:nvSpPr>
        <p:spPr>
          <a:xfrm>
            <a:off x="2971800" y="2209800"/>
            <a:ext cx="1691640" cy="670560"/>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IRR, real</a:t>
            </a:r>
          </a:p>
        </p:txBody>
      </p:sp>
      <p:sp>
        <p:nvSpPr>
          <p:cNvPr id="11" name="Rounded Rectangle 10"/>
          <p:cNvSpPr/>
          <p:nvPr/>
        </p:nvSpPr>
        <p:spPr>
          <a:xfrm>
            <a:off x="548640" y="3154680"/>
            <a:ext cx="2057400" cy="132588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291840"/>
            <a:ext cx="1691640" cy="685800"/>
          </a:xfrm>
          <a:prstGeom prst="rect">
            <a:avLst/>
          </a:prstGeom>
          <a:noFill/>
        </p:spPr>
        <p:txBody>
          <a:bodyPr wrap="square" anchor="t" lIns="0" rIns="0" tIns="0" bIns="0">
            <a:spAutoFit/>
          </a:bodyPr>
          <a:lstStyle/>
          <a:p>
            <a:pPr algn="l">
              <a:spcAft>
                <a:spcPts val="600"/>
              </a:spcAft>
            </a:pPr>
            <a:r>
              <a:rPr sz="2400" b="1" i="0">
                <a:solidFill>
                  <a:srgbClr val="2A78D6"/>
                </a:solidFill>
                <a:latin typeface="Calibri"/>
              </a:rPr>
              <a:t>Not reached</a:t>
            </a:r>
          </a:p>
        </p:txBody>
      </p:sp>
      <p:sp>
        <p:nvSpPr>
          <p:cNvPr id="13" name="TextBox 12"/>
          <p:cNvSpPr txBox="1"/>
          <p:nvPr/>
        </p:nvSpPr>
        <p:spPr>
          <a:xfrm>
            <a:off x="731520" y="3672840"/>
            <a:ext cx="1691640" cy="670560"/>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payback within 10 years</a:t>
            </a:r>
          </a:p>
        </p:txBody>
      </p:sp>
      <p:sp>
        <p:nvSpPr>
          <p:cNvPr id="14" name="Rounded Rectangle 13"/>
          <p:cNvSpPr/>
          <p:nvPr/>
        </p:nvSpPr>
        <p:spPr>
          <a:xfrm>
            <a:off x="2788920" y="3154680"/>
            <a:ext cx="2057400" cy="132588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1800" y="3291840"/>
            <a:ext cx="1691640" cy="685800"/>
          </a:xfrm>
          <a:prstGeom prst="rect">
            <a:avLst/>
          </a:prstGeom>
          <a:noFill/>
        </p:spPr>
        <p:txBody>
          <a:bodyPr wrap="square" anchor="t" lIns="0" rIns="0" tIns="0" bIns="0">
            <a:spAutoFit/>
          </a:bodyPr>
          <a:lstStyle/>
          <a:p>
            <a:pPr algn="l">
              <a:spcAft>
                <a:spcPts val="600"/>
              </a:spcAft>
            </a:pPr>
            <a:r>
              <a:rPr sz="2400" b="1" i="0">
                <a:solidFill>
                  <a:srgbClr val="2A78D6"/>
                </a:solidFill>
                <a:latin typeface="Calibri"/>
              </a:rPr>
              <a:t>+€0.32M</a:t>
            </a:r>
          </a:p>
        </p:txBody>
      </p:sp>
      <p:sp>
        <p:nvSpPr>
          <p:cNvPr id="16" name="TextBox 15"/>
          <p:cNvSpPr txBox="1"/>
          <p:nvPr/>
        </p:nvSpPr>
        <p:spPr>
          <a:xfrm>
            <a:off x="2971800" y="3672840"/>
            <a:ext cx="1691640" cy="670560"/>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EBITDA 2030 (3rd operating year)</a:t>
            </a:r>
          </a:p>
        </p:txBody>
      </p:sp>
      <p:sp>
        <p:nvSpPr>
          <p:cNvPr id="17" name="Rounded Rectangle 16"/>
          <p:cNvSpPr/>
          <p:nvPr/>
        </p:nvSpPr>
        <p:spPr>
          <a:xfrm>
            <a:off x="548640" y="4617720"/>
            <a:ext cx="2057400" cy="132588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54880"/>
            <a:ext cx="1691640" cy="685800"/>
          </a:xfrm>
          <a:prstGeom prst="rect">
            <a:avLst/>
          </a:prstGeom>
          <a:noFill/>
        </p:spPr>
        <p:txBody>
          <a:bodyPr wrap="square" anchor="t" lIns="0" rIns="0" tIns="0" bIns="0">
            <a:spAutoFit/>
          </a:bodyPr>
          <a:lstStyle/>
          <a:p>
            <a:pPr algn="l">
              <a:spcAft>
                <a:spcPts val="600"/>
              </a:spcAft>
            </a:pPr>
            <a:r>
              <a:rPr sz="2400" b="1" i="0">
                <a:solidFill>
                  <a:srgbClr val="2A78D6"/>
                </a:solidFill>
                <a:latin typeface="Calibri"/>
              </a:rPr>
              <a:t>€7.09M</a:t>
            </a:r>
          </a:p>
        </p:txBody>
      </p:sp>
      <p:sp>
        <p:nvSpPr>
          <p:cNvPr id="19" name="TextBox 18"/>
          <p:cNvSpPr txBox="1"/>
          <p:nvPr/>
        </p:nvSpPr>
        <p:spPr>
          <a:xfrm>
            <a:off x="731520" y="5135880"/>
            <a:ext cx="1691640" cy="670560"/>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funding need (lowest point, 2029)</a:t>
            </a:r>
          </a:p>
        </p:txBody>
      </p:sp>
      <p:sp>
        <p:nvSpPr>
          <p:cNvPr id="20" name="Rounded Rectangle 19"/>
          <p:cNvSpPr/>
          <p:nvPr/>
        </p:nvSpPr>
        <p:spPr>
          <a:xfrm>
            <a:off x="2788920" y="4617720"/>
            <a:ext cx="2057400" cy="132588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4754880"/>
            <a:ext cx="1691640" cy="685800"/>
          </a:xfrm>
          <a:prstGeom prst="rect">
            <a:avLst/>
          </a:prstGeom>
          <a:noFill/>
        </p:spPr>
        <p:txBody>
          <a:bodyPr wrap="square" anchor="t" lIns="0" rIns="0" tIns="0" bIns="0">
            <a:spAutoFit/>
          </a:bodyPr>
          <a:lstStyle/>
          <a:p>
            <a:pPr algn="l">
              <a:spcAft>
                <a:spcPts val="600"/>
              </a:spcAft>
            </a:pPr>
            <a:r>
              <a:rPr sz="2400" b="1" i="0">
                <a:solidFill>
                  <a:srgbClr val="2A78D6"/>
                </a:solidFill>
                <a:latin typeface="Calibri"/>
              </a:rPr>
              <a:t>€5.5M</a:t>
            </a:r>
          </a:p>
        </p:txBody>
      </p:sp>
      <p:sp>
        <p:nvSpPr>
          <p:cNvPr id="22" name="TextBox 21"/>
          <p:cNvSpPr txBox="1"/>
          <p:nvPr/>
        </p:nvSpPr>
        <p:spPr>
          <a:xfrm>
            <a:off x="2971800" y="5135880"/>
            <a:ext cx="1691640" cy="670560"/>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initial capex</a:t>
            </a:r>
          </a:p>
        </p:txBody>
      </p:sp>
      <p:sp>
        <p:nvSpPr>
          <p:cNvPr id="23" name="Chart caption"/>
          <p:cNvSpPr txBox="1"/>
          <p:nvPr/>
        </p:nvSpPr>
        <p:spPr>
          <a:xfrm>
            <a:off x="4983479" y="1572768"/>
            <a:ext cx="6659575" cy="32004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Free cash flow per year (bars) and cumulative (line), € million. Build 2027, first sales 2028.</a:t>
            </a:r>
          </a:p>
        </p:txBody>
      </p:sp>
      <p:pic>
        <p:nvPicPr>
          <p:cNvPr id="24" name="Picture 23" descr="Free cash flow per year and cumulative free cash flow 2026-2036; lowest point -7.1M in 2029"/>
          <p:cNvPicPr>
            <a:picLocks noChangeAspect="1"/>
          </p:cNvPicPr>
          <p:nvPr/>
        </p:nvPicPr>
        <p:blipFill>
          <a:blip r:embed="rId3"/>
          <a:stretch>
            <a:fillRect/>
          </a:stretch>
        </p:blipFill>
        <p:spPr>
          <a:xfrm>
            <a:off x="4892040" y="2235848"/>
            <a:ext cx="6751015" cy="371218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Selling price is the only single input that lifts NPV above zero; the green levers barely move it</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 model/results.json → sensitivity (one input group at a time, low / high column of inputs.csv); chart deck/charts/tornado_npv.png. Price base €135/m³ has confidence L (A-MKT-16).</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10</a:t>
            </a:r>
          </a:p>
        </p:txBody>
      </p:sp>
      <p:sp>
        <p:nvSpPr>
          <p:cNvPr id="5" name="Chart caption"/>
          <p:cNvSpPr txBox="1"/>
          <p:nvPr/>
        </p:nvSpPr>
        <p:spPr>
          <a:xfrm>
            <a:off x="548640" y="1572768"/>
            <a:ext cx="8046720" cy="32004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NPV at 8% real (€ million) when one input moves to its low (blue) or high (orange) value.</a:t>
            </a:r>
          </a:p>
        </p:txBody>
      </p:sp>
      <p:pic>
        <p:nvPicPr>
          <p:cNvPr id="6" name="Picture 5" descr="Tornado chart of NPV sensitivity; selling price has by far the largest swing"/>
          <p:cNvPicPr>
            <a:picLocks noChangeAspect="1"/>
          </p:cNvPicPr>
          <p:nvPr/>
        </p:nvPicPr>
        <p:blipFill>
          <a:blip r:embed="rId3"/>
          <a:stretch>
            <a:fillRect/>
          </a:stretch>
        </p:blipFill>
        <p:spPr>
          <a:xfrm>
            <a:off x="457200" y="2050536"/>
            <a:ext cx="8138160" cy="4082807"/>
          </a:xfrm>
          <a:prstGeom prst="rect">
            <a:avLst/>
          </a:prstGeom>
        </p:spPr>
      </p:pic>
      <p:sp>
        <p:nvSpPr>
          <p:cNvPr id="7" name="Rounded Rectangle 6"/>
          <p:cNvSpPr/>
          <p:nvPr/>
        </p:nvSpPr>
        <p:spPr>
          <a:xfrm>
            <a:off x="8778240" y="1691640"/>
            <a:ext cx="2864815"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19" y="1828800"/>
            <a:ext cx="2499055" cy="68580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+€0.25M</a:t>
            </a:r>
          </a:p>
        </p:txBody>
      </p:sp>
      <p:sp>
        <p:nvSpPr>
          <p:cNvPr id="9" name="TextBox 8"/>
          <p:cNvSpPr txBox="1"/>
          <p:nvPr/>
        </p:nvSpPr>
        <p:spPr>
          <a:xfrm>
            <a:off x="8961119" y="2273300"/>
            <a:ext cx="2499055" cy="652779"/>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NPV at €155/m³: the only single change above zero</a:t>
            </a:r>
          </a:p>
        </p:txBody>
      </p:sp>
      <p:sp>
        <p:nvSpPr>
          <p:cNvPr id="10" name="Rounded Rectangle 9"/>
          <p:cNvSpPr/>
          <p:nvPr/>
        </p:nvSpPr>
        <p:spPr>
          <a:xfrm>
            <a:off x="8778240" y="3200400"/>
            <a:ext cx="2864815"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19" y="3337560"/>
            <a:ext cx="2499055" cy="68580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€1.2M</a:t>
            </a:r>
          </a:p>
        </p:txBody>
      </p:sp>
      <p:sp>
        <p:nvSpPr>
          <p:cNvPr id="12" name="TextBox 11"/>
          <p:cNvSpPr txBox="1"/>
          <p:nvPr/>
        </p:nvSpPr>
        <p:spPr>
          <a:xfrm>
            <a:off x="8961119" y="3782060"/>
            <a:ext cx="2499055" cy="652779"/>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total swing from the green premium (0% to 3%)</a:t>
            </a:r>
          </a:p>
        </p:txBody>
      </p:sp>
      <p:sp>
        <p:nvSpPr>
          <p:cNvPr id="13" name="Rounded Rectangle 12"/>
          <p:cNvSpPr/>
          <p:nvPr/>
        </p:nvSpPr>
        <p:spPr>
          <a:xfrm>
            <a:off x="8778240" y="4709160"/>
            <a:ext cx="2864815"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19" y="4846320"/>
            <a:ext cx="2499055" cy="68580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−€7.1M</a:t>
            </a:r>
          </a:p>
        </p:txBody>
      </p:sp>
      <p:sp>
        <p:nvSpPr>
          <p:cNvPr id="15" name="TextBox 14"/>
          <p:cNvSpPr txBox="1"/>
          <p:nvPr/>
        </p:nvSpPr>
        <p:spPr>
          <a:xfrm>
            <a:off x="8961119" y="5290820"/>
            <a:ext cx="2499055" cy="652779"/>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NPV at €130/m³; the price risk points down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The base case fails three of the four viability tests that we fixed before modelling</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Sources: plan.md §2.1; model/results.json; results_options.json. ¹ 100% price pass-through, book-value salvage, working capital released. ² Base ± root-sum-square. ³ Stacked inputs.</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11</a:t>
            </a:r>
          </a:p>
        </p:txBody>
      </p:sp>
      <p:graphicFrame>
        <p:nvGraphicFramePr>
          <p:cNvPr id="5" name="Table 4"/>
          <p:cNvGraphicFramePr>
            <a:graphicFrameLocks noGrp="1"/>
          </p:cNvGraphicFramePr>
          <p:nvPr/>
        </p:nvGraphicFramePr>
        <p:xfrm>
          <a:off x="548640" y="1737360"/>
          <a:ext cx="6035040" cy="3291840"/>
        </p:xfrm>
        <a:graphic>
          <a:graphicData uri="http://schemas.openxmlformats.org/drawingml/2006/table">
            <a:tbl>
              <a:tblPr firstRow="1" bandRow="1">
                <a:tableStyleId>{5C22544A-7EE6-4342-B048-85BDC9FD1C3A}</a:tableStyleId>
              </a:tblPr>
              <a:tblGrid>
                <a:gridCol w="365760"/>
                <a:gridCol w="2926080"/>
                <a:gridCol w="1371600"/>
                <a:gridCol w="1371600"/>
              </a:tblGrid>
              <a:tr h="658368">
                <a:tc>
                  <a:txBody>
                    <a:bodyPr wrap="square"/>
                    <a:lstStyle/>
                    <a:p>
                      <a:pPr algn="l"/>
                      <a:r>
                        <a:rPr sz="1500" b="1" i="0">
                          <a:solidFill>
                            <a:srgbClr val="FFFFFF"/>
                          </a:solidFill>
                          <a:latin typeface="Calibri"/>
                        </a:rPr>
                        <a:t>#</a:t>
                      </a:r>
                    </a:p>
                  </a:txBody>
                  <a:tcPr marL="91440" marR="91440" marT="36576" marB="36576" anchor="ctr">
                    <a:solidFill>
                      <a:srgbClr val="14202B"/>
                    </a:solidFill>
                  </a:tcPr>
                </a:tc>
                <a:tc>
                  <a:txBody>
                    <a:bodyPr wrap="square"/>
                    <a:lstStyle/>
                    <a:p>
                      <a:pPr algn="l"/>
                      <a:r>
                        <a:rPr sz="1500" b="1" i="0">
                          <a:solidFill>
                            <a:srgbClr val="FFFFFF"/>
                          </a:solidFill>
                          <a:latin typeface="Calibri"/>
                        </a:rPr>
                        <a:t>Test (fixed in plan.md before results)</a:t>
                      </a:r>
                    </a:p>
                  </a:txBody>
                  <a:tcPr marL="91440" marR="91440" marT="36576" marB="36576" anchor="ctr">
                    <a:solidFill>
                      <a:srgbClr val="14202B"/>
                    </a:solidFill>
                  </a:tcPr>
                </a:tc>
                <a:tc>
                  <a:txBody>
                    <a:bodyPr wrap="square"/>
                    <a:lstStyle/>
                    <a:p>
                      <a:pPr algn="l"/>
                      <a:r>
                        <a:rPr sz="1500" b="1" i="0">
                          <a:solidFill>
                            <a:srgbClr val="FFFFFF"/>
                          </a:solidFill>
                          <a:latin typeface="Calibri"/>
                        </a:rPr>
                        <a:t>Base case</a:t>
                      </a:r>
                    </a:p>
                  </a:txBody>
                  <a:tcPr marL="91440" marR="91440" marT="36576" marB="36576" anchor="ctr">
                    <a:solidFill>
                      <a:srgbClr val="14202B"/>
                    </a:solidFill>
                  </a:tcPr>
                </a:tc>
                <a:tc>
                  <a:txBody>
                    <a:bodyPr wrap="square"/>
                    <a:lstStyle/>
                    <a:p>
                      <a:pPr algn="l"/>
                      <a:r>
                        <a:rPr sz="1500" b="1" i="0">
                          <a:solidFill>
                            <a:srgbClr val="FFFFFF"/>
                          </a:solidFill>
                          <a:latin typeface="Calibri"/>
                        </a:rPr>
                        <a:t>Result</a:t>
                      </a:r>
                    </a:p>
                  </a:txBody>
                  <a:tcPr marL="91440" marR="91440" marT="36576" marB="36576" anchor="ctr">
                    <a:solidFill>
                      <a:srgbClr val="14202B"/>
                    </a:solidFill>
                  </a:tcPr>
                </a:tc>
              </a:tr>
              <a:tr h="658368">
                <a:tc>
                  <a:txBody>
                    <a:bodyPr wrap="square"/>
                    <a:lstStyle/>
                    <a:p>
                      <a:pPr algn="l"/>
                      <a:r>
                        <a:rPr sz="1500" b="1" i="0">
                          <a:solidFill>
                            <a:srgbClr val="1B1F24"/>
                          </a:solidFill>
                          <a:latin typeface="Calibri"/>
                        </a:rPr>
                        <a:t>1</a:t>
                      </a:r>
                    </a:p>
                  </a:txBody>
                  <a:tcPr marL="91440" marR="91440" marT="36576" marB="36576" anchor="ctr">
                    <a:solidFill>
                      <a:srgbClr val="FFFFFF"/>
                    </a:solidFill>
                  </a:tcPr>
                </a:tc>
                <a:tc>
                  <a:txBody>
                    <a:bodyPr wrap="square"/>
                    <a:lstStyle/>
                    <a:p>
                      <a:pPr algn="l"/>
                      <a:r>
                        <a:rPr sz="1500" b="0" i="0">
                          <a:solidFill>
                            <a:srgbClr val="1B1F24"/>
                          </a:solidFill>
                          <a:latin typeface="Calibri"/>
                        </a:rPr>
                        <a:t>NPV &gt; 0 at 8% real</a:t>
                      </a:r>
                    </a:p>
                  </a:txBody>
                  <a:tcPr marL="91440" marR="91440" marT="36576" marB="36576" anchor="ctr">
                    <a:solidFill>
                      <a:srgbClr val="FFFFFF"/>
                    </a:solidFill>
                  </a:tcPr>
                </a:tc>
                <a:tc>
                  <a:txBody>
                    <a:bodyPr wrap="square"/>
                    <a:lstStyle/>
                    <a:p>
                      <a:pPr algn="l"/>
                      <a:r>
                        <a:rPr sz="1500" b="0" i="0">
                          <a:solidFill>
                            <a:srgbClr val="1B1F24"/>
                          </a:solidFill>
                          <a:latin typeface="Calibri"/>
                        </a:rPr>
                        <a:t>−€5.33M</a:t>
                      </a:r>
                    </a:p>
                  </a:txBody>
                  <a:tcPr marL="91440" marR="91440" marT="36576" marB="36576" anchor="ctr">
                    <a:solidFill>
                      <a:srgbClr val="FFFFFF"/>
                    </a:solidFill>
                  </a:tcPr>
                </a:tc>
                <a:tc>
                  <a:txBody>
                    <a:bodyPr wrap="square"/>
                    <a:lstStyle/>
                    <a:p>
                      <a:pPr algn="l"/>
                      <a:r>
                        <a:rPr sz="1500" b="1" i="0">
                          <a:solidFill>
                            <a:srgbClr val="C94A16"/>
                          </a:solidFill>
                          <a:latin typeface="Calibri"/>
                        </a:rPr>
                        <a:t>FAIL</a:t>
                      </a:r>
                    </a:p>
                  </a:txBody>
                  <a:tcPr marL="91440" marR="91440" marT="36576" marB="36576" anchor="ctr">
                    <a:solidFill>
                      <a:srgbClr val="FFFFFF"/>
                    </a:solidFill>
                  </a:tcPr>
                </a:tc>
              </a:tr>
              <a:tr h="658368">
                <a:tc>
                  <a:txBody>
                    <a:bodyPr wrap="square"/>
                    <a:lstStyle/>
                    <a:p>
                      <a:pPr algn="l"/>
                      <a:r>
                        <a:rPr sz="1500" b="1" i="0">
                          <a:solidFill>
                            <a:srgbClr val="1B1F24"/>
                          </a:solidFill>
                          <a:latin typeface="Calibri"/>
                        </a:rPr>
                        <a:t>2</a:t>
                      </a:r>
                    </a:p>
                  </a:txBody>
                  <a:tcPr marL="91440" marR="91440" marT="36576" marB="36576" anchor="ctr">
                    <a:solidFill>
                      <a:srgbClr val="F6F7F9"/>
                    </a:solidFill>
                  </a:tcPr>
                </a:tc>
                <a:tc>
                  <a:txBody>
                    <a:bodyPr wrap="square"/>
                    <a:lstStyle/>
                    <a:p>
                      <a:pPr algn="l"/>
                      <a:r>
                        <a:rPr sz="1500" b="0" i="0">
                          <a:solidFill>
                            <a:srgbClr val="1B1F24"/>
                          </a:solidFill>
                          <a:latin typeface="Calibri"/>
                        </a:rPr>
                        <a:t>Payback &lt; 7 years</a:t>
                      </a:r>
                    </a:p>
                  </a:txBody>
                  <a:tcPr marL="91440" marR="91440" marT="36576" marB="36576" anchor="ctr">
                    <a:solidFill>
                      <a:srgbClr val="F6F7F9"/>
                    </a:solidFill>
                  </a:tcPr>
                </a:tc>
                <a:tc>
                  <a:txBody>
                    <a:bodyPr wrap="square"/>
                    <a:lstStyle/>
                    <a:p>
                      <a:pPr algn="l"/>
                      <a:r>
                        <a:rPr sz="1500" b="0" i="0">
                          <a:solidFill>
                            <a:srgbClr val="1B1F24"/>
                          </a:solidFill>
                          <a:latin typeface="Calibri"/>
                        </a:rPr>
                        <a:t>not reached</a:t>
                      </a:r>
                    </a:p>
                  </a:txBody>
                  <a:tcPr marL="91440" marR="91440" marT="36576" marB="36576" anchor="ctr">
                    <a:solidFill>
                      <a:srgbClr val="F6F7F9"/>
                    </a:solidFill>
                  </a:tcPr>
                </a:tc>
                <a:tc>
                  <a:txBody>
                    <a:bodyPr wrap="square"/>
                    <a:lstStyle/>
                    <a:p>
                      <a:pPr algn="l"/>
                      <a:r>
                        <a:rPr sz="1500" b="1" i="0">
                          <a:solidFill>
                            <a:srgbClr val="C94A16"/>
                          </a:solidFill>
                          <a:latin typeface="Calibri"/>
                        </a:rPr>
                        <a:t>FAIL</a:t>
                      </a:r>
                    </a:p>
                  </a:txBody>
                  <a:tcPr marL="91440" marR="91440" marT="36576" marB="36576" anchor="ctr">
                    <a:solidFill>
                      <a:srgbClr val="F6F7F9"/>
                    </a:solidFill>
                  </a:tcPr>
                </a:tc>
              </a:tr>
              <a:tr h="658368">
                <a:tc>
                  <a:txBody>
                    <a:bodyPr wrap="square"/>
                    <a:lstStyle/>
                    <a:p>
                      <a:pPr algn="l"/>
                      <a:r>
                        <a:rPr sz="1500" b="1" i="0">
                          <a:solidFill>
                            <a:srgbClr val="1B1F24"/>
                          </a:solidFill>
                          <a:latin typeface="Calibri"/>
                        </a:rPr>
                        <a:t>3</a:t>
                      </a:r>
                    </a:p>
                  </a:txBody>
                  <a:tcPr marL="91440" marR="91440" marT="36576" marB="36576" anchor="ctr">
                    <a:solidFill>
                      <a:srgbClr val="FFFFFF"/>
                    </a:solidFill>
                  </a:tcPr>
                </a:tc>
                <a:tc>
                  <a:txBody>
                    <a:bodyPr wrap="square"/>
                    <a:lstStyle/>
                    <a:p>
                      <a:pPr algn="l"/>
                      <a:r>
                        <a:rPr sz="1500" b="0" i="0">
                          <a:solidFill>
                            <a:srgbClr val="1B1F24"/>
                          </a:solidFill>
                          <a:latin typeface="Calibri"/>
                        </a:rPr>
                        <a:t>EBITDA &gt; 0 by 3rd operating year</a:t>
                      </a:r>
                    </a:p>
                  </a:txBody>
                  <a:tcPr marL="91440" marR="91440" marT="36576" marB="36576" anchor="ctr">
                    <a:solidFill>
                      <a:srgbClr val="FFFFFF"/>
                    </a:solidFill>
                  </a:tcPr>
                </a:tc>
                <a:tc>
                  <a:txBody>
                    <a:bodyPr wrap="square"/>
                    <a:lstStyle/>
                    <a:p>
                      <a:pPr algn="l"/>
                      <a:r>
                        <a:rPr sz="1500" b="0" i="0">
                          <a:solidFill>
                            <a:srgbClr val="1B1F24"/>
                          </a:solidFill>
                          <a:latin typeface="Calibri"/>
                        </a:rPr>
                        <a:t>+€0.32M (2030)</a:t>
                      </a:r>
                    </a:p>
                  </a:txBody>
                  <a:tcPr marL="91440" marR="91440" marT="36576" marB="36576" anchor="ctr">
                    <a:solidFill>
                      <a:srgbClr val="FFFFFF"/>
                    </a:solidFill>
                  </a:tcPr>
                </a:tc>
                <a:tc>
                  <a:txBody>
                    <a:bodyPr wrap="square"/>
                    <a:lstStyle/>
                    <a:p>
                      <a:pPr algn="l"/>
                      <a:r>
                        <a:rPr sz="1500" b="1" i="0">
                          <a:solidFill>
                            <a:srgbClr val="2A78D6"/>
                          </a:solidFill>
                          <a:latin typeface="Calibri"/>
                        </a:rPr>
                        <a:t>PASS, narrowly</a:t>
                      </a:r>
                    </a:p>
                  </a:txBody>
                  <a:tcPr marL="91440" marR="91440" marT="36576" marB="36576" anchor="ctr">
                    <a:solidFill>
                      <a:srgbClr val="FFFFFF"/>
                    </a:solidFill>
                  </a:tcPr>
                </a:tc>
              </a:tr>
              <a:tr h="658368">
                <a:tc>
                  <a:txBody>
                    <a:bodyPr wrap="square"/>
                    <a:lstStyle/>
                    <a:p>
                      <a:pPr algn="l"/>
                      <a:r>
                        <a:rPr sz="1500" b="1" i="0">
                          <a:solidFill>
                            <a:srgbClr val="1B1F24"/>
                          </a:solidFill>
                          <a:latin typeface="Calibri"/>
                        </a:rPr>
                        <a:t>4</a:t>
                      </a:r>
                    </a:p>
                  </a:txBody>
                  <a:tcPr marL="91440" marR="91440" marT="36576" marB="36576" anchor="ctr">
                    <a:solidFill>
                      <a:srgbClr val="F6F7F9"/>
                    </a:solidFill>
                  </a:tcPr>
                </a:tc>
                <a:tc>
                  <a:txBody>
                    <a:bodyPr wrap="square"/>
                    <a:lstStyle/>
                    <a:p>
                      <a:pPr algn="l"/>
                      <a:r>
                        <a:rPr sz="1500" b="0" i="0">
                          <a:solidFill>
                            <a:srgbClr val="1B1F24"/>
                          </a:solidFill>
                          <a:latin typeface="Calibri"/>
                        </a:rPr>
                        <a:t>NPV &gt; 0 with ≥ 2 of 6 drivers at pessimistic value</a:t>
                      </a:r>
                    </a:p>
                  </a:txBody>
                  <a:tcPr marL="91440" marR="91440" marT="36576" marB="36576" anchor="ctr">
                    <a:solidFill>
                      <a:srgbClr val="F6F7F9"/>
                    </a:solidFill>
                  </a:tcPr>
                </a:tc>
                <a:tc>
                  <a:txBody>
                    <a:bodyPr wrap="square"/>
                    <a:lstStyle/>
                    <a:p>
                      <a:pPr algn="l"/>
                      <a:r>
                        <a:rPr sz="1500" b="0" i="0">
                          <a:solidFill>
                            <a:srgbClr val="1B1F24"/>
                          </a:solidFill>
                          <a:latin typeface="Calibri"/>
                        </a:rPr>
                        <a:t>0 of 6</a:t>
                      </a:r>
                    </a:p>
                  </a:txBody>
                  <a:tcPr marL="91440" marR="91440" marT="36576" marB="36576" anchor="ctr">
                    <a:solidFill>
                      <a:srgbClr val="F6F7F9"/>
                    </a:solidFill>
                  </a:tcPr>
                </a:tc>
                <a:tc>
                  <a:txBody>
                    <a:bodyPr wrap="square"/>
                    <a:lstStyle/>
                    <a:p>
                      <a:pPr algn="l"/>
                      <a:r>
                        <a:rPr sz="1500" b="1" i="0">
                          <a:solidFill>
                            <a:srgbClr val="C94A16"/>
                          </a:solidFill>
                          <a:latin typeface="Calibri"/>
                        </a:rPr>
                        <a:t>FAIL</a:t>
                      </a:r>
                    </a:p>
                  </a:txBody>
                  <a:tcPr marL="91440" marR="91440" marT="36576" marB="36576" anchor="ctr">
                    <a:solidFill>
                      <a:srgbClr val="F6F7F9"/>
                    </a:solidFill>
                  </a:tcPr>
                </a:tc>
              </a:tr>
            </a:tbl>
          </a:graphicData>
        </a:graphic>
      </p:graphicFrame>
      <p:sp>
        <p:nvSpPr>
          <p:cNvPr id="6" name="Rounded Rectangle 5"/>
          <p:cNvSpPr/>
          <p:nvPr/>
        </p:nvSpPr>
        <p:spPr>
          <a:xfrm>
            <a:off x="548640" y="5257800"/>
            <a:ext cx="6035040" cy="86868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257800"/>
            <a:ext cx="5577840" cy="868680"/>
          </a:xfrm>
          <a:prstGeom prst="rect">
            <a:avLst/>
          </a:prstGeom>
          <a:noFill/>
        </p:spPr>
        <p:txBody>
          <a:bodyPr wrap="square" anchor="ctr" lIns="0" rIns="0" tIns="0" bIns="0">
            <a:spAutoFit/>
          </a:bodyPr>
          <a:lstStyle/>
          <a:p>
            <a:pPr algn="l">
              <a:spcAft>
                <a:spcPts val="0"/>
              </a:spcAft>
            </a:pPr>
            <a:r>
              <a:rPr sz="1500" b="1" i="0">
                <a:solidFill>
                  <a:srgbClr val="1B1F24"/>
                </a:solidFill>
                <a:latin typeface="Calibri"/>
              </a:rPr>
              <a:t>Borderline band: </a:t>
            </a:r>
            <a:r>
              <a:rPr sz="1500" b="0" i="0">
                <a:solidFill>
                  <a:srgbClr val="1B1F24"/>
                </a:solidFill>
                <a:latin typeface="Calibri"/>
              </a:rPr>
              <a:t>NPV between −10% and 0% of capex. We are at −97%.</a:t>
            </a:r>
          </a:p>
        </p:txBody>
      </p:sp>
      <p:sp>
        <p:nvSpPr>
          <p:cNvPr id="8" name="TextBox 7"/>
          <p:cNvSpPr txBox="1"/>
          <p:nvPr/>
        </p:nvSpPr>
        <p:spPr>
          <a:xfrm>
            <a:off x="6903720" y="1645920"/>
            <a:ext cx="4739335" cy="365760"/>
          </a:xfrm>
          <a:prstGeom prst="rect">
            <a:avLst/>
          </a:prstGeom>
          <a:noFill/>
        </p:spPr>
        <p:txBody>
          <a:bodyPr wrap="square" anchor="t" lIns="0" rIns="0" tIns="0" bIns="0">
            <a:spAutoFit/>
          </a:bodyPr>
          <a:lstStyle/>
          <a:p>
            <a:pPr algn="l">
              <a:spcAft>
                <a:spcPts val="600"/>
              </a:spcAft>
            </a:pPr>
            <a:r>
              <a:rPr sz="1600" b="1" i="0">
                <a:solidFill>
                  <a:srgbClr val="2A78D6"/>
                </a:solidFill>
                <a:latin typeface="Calibri"/>
              </a:rPr>
              <a:t>Realistic NPV range, € million</a:t>
            </a:r>
          </a:p>
        </p:txBody>
      </p:sp>
      <p:pic>
        <p:nvPicPr>
          <p:cNvPr id="9" name="Picture 8" descr="Realistic NPV range: base -5.3, all conservative choices undone -3.4, indicative spread -15.3 to +2.1, P2 -6.8 to -1.4, O3 -3.5"/>
          <p:cNvPicPr>
            <a:picLocks noChangeAspect="1"/>
          </p:cNvPicPr>
          <p:nvPr/>
        </p:nvPicPr>
        <p:blipFill>
          <a:blip r:embed="rId3"/>
          <a:stretch>
            <a:fillRect/>
          </a:stretch>
        </p:blipFill>
        <p:spPr>
          <a:xfrm>
            <a:off x="6812279" y="2637430"/>
            <a:ext cx="4830775" cy="300045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We tested ten options and two packages in the model, and every one has a negative NPV</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 model/results_options.json; research/viability_options.md §2, §4 (same numbers as model/charts/options_npv.png, shorter labels). P2 range = stacked downside / upside inputs.</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12</a:t>
            </a:r>
          </a:p>
        </p:txBody>
      </p:sp>
      <p:sp>
        <p:nvSpPr>
          <p:cNvPr id="5" name="Chart caption"/>
          <p:cNvSpPr txBox="1"/>
          <p:nvPr/>
        </p:nvSpPr>
        <p:spPr>
          <a:xfrm>
            <a:off x="548640" y="1572768"/>
            <a:ext cx="7863840" cy="32004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NPV at 8% real per option, € million. Grey = base case; dark blue = packages.</a:t>
            </a:r>
          </a:p>
        </p:txBody>
      </p:sp>
      <p:pic>
        <p:nvPicPr>
          <p:cNvPr id="6" name="Picture 5" descr="Bar chart of NPV per option; all negative from -2.5 (asset-light) to -6.3 (urban site)"/>
          <p:cNvPicPr>
            <a:picLocks noChangeAspect="1"/>
          </p:cNvPicPr>
          <p:nvPr/>
        </p:nvPicPr>
        <p:blipFill>
          <a:blip r:embed="rId3"/>
          <a:stretch>
            <a:fillRect/>
          </a:stretch>
        </p:blipFill>
        <p:spPr>
          <a:xfrm>
            <a:off x="457200" y="2232382"/>
            <a:ext cx="7863840" cy="3719115"/>
          </a:xfrm>
          <a:prstGeom prst="rect">
            <a:avLst/>
          </a:prstGeom>
        </p:spPr>
      </p:pic>
      <p:sp>
        <p:nvSpPr>
          <p:cNvPr id="7" name="Rounded Rectangle 6"/>
          <p:cNvSpPr/>
          <p:nvPr/>
        </p:nvSpPr>
        <p:spPr>
          <a:xfrm>
            <a:off x="8549640" y="1691640"/>
            <a:ext cx="3093415"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32519" y="1828800"/>
            <a:ext cx="2727655" cy="68580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−€3.5M</a:t>
            </a:r>
          </a:p>
        </p:txBody>
      </p:sp>
      <p:sp>
        <p:nvSpPr>
          <p:cNvPr id="9" name="TextBox 8"/>
          <p:cNvSpPr txBox="1"/>
          <p:nvPr/>
        </p:nvSpPr>
        <p:spPr>
          <a:xfrm>
            <a:off x="8732519" y="2273300"/>
            <a:ext cx="2727655" cy="652779"/>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best plant route: buy an existing plant (O3)</a:t>
            </a:r>
          </a:p>
        </p:txBody>
      </p:sp>
      <p:sp>
        <p:nvSpPr>
          <p:cNvPr id="10" name="Rounded Rectangle 9"/>
          <p:cNvSpPr/>
          <p:nvPr/>
        </p:nvSpPr>
        <p:spPr>
          <a:xfrm>
            <a:off x="8549640" y="3200400"/>
            <a:ext cx="3093415"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32519" y="3337560"/>
            <a:ext cx="2727655" cy="68580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−€4.0M</a:t>
            </a:r>
          </a:p>
        </p:txBody>
      </p:sp>
      <p:sp>
        <p:nvSpPr>
          <p:cNvPr id="12" name="TextBox 11"/>
          <p:cNvSpPr txBox="1"/>
          <p:nvPr/>
        </p:nvSpPr>
        <p:spPr>
          <a:xfrm>
            <a:off x="8732519" y="3782060"/>
            <a:ext cx="2727655" cy="652779"/>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best package (P2),</a:t>
            </a:r>
          </a:p>
          <a:p>
            <a:pPr algn="l">
              <a:spcAft>
                <a:spcPts val="0"/>
              </a:spcAft>
            </a:pPr>
            <a:r>
              <a:rPr sz="1400" b="0" i="0">
                <a:solidFill>
                  <a:srgbClr val="1B1F24"/>
                </a:solidFill>
                <a:latin typeface="Calibri"/>
              </a:rPr>
              <a:t>range −€6.8M to −€1.4M</a:t>
            </a:r>
          </a:p>
        </p:txBody>
      </p:sp>
      <p:sp>
        <p:nvSpPr>
          <p:cNvPr id="13" name="Rounded Rectangle 12"/>
          <p:cNvSpPr/>
          <p:nvPr/>
        </p:nvSpPr>
        <p:spPr>
          <a:xfrm>
            <a:off x="8549640" y="4709160"/>
            <a:ext cx="3093415" cy="13716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19" y="4846320"/>
            <a:ext cx="2727655" cy="685800"/>
          </a:xfrm>
          <a:prstGeom prst="rect">
            <a:avLst/>
          </a:prstGeom>
          <a:noFill/>
        </p:spPr>
        <p:txBody>
          <a:bodyPr wrap="square" anchor="t" lIns="0" rIns="0" tIns="0" bIns="0">
            <a:spAutoFit/>
          </a:bodyPr>
          <a:lstStyle/>
          <a:p>
            <a:pPr algn="l">
              <a:spcAft>
                <a:spcPts val="600"/>
              </a:spcAft>
            </a:pPr>
            <a:r>
              <a:rPr sz="2800" b="1" i="0">
                <a:solidFill>
                  <a:srgbClr val="2A78D6"/>
                </a:solidFill>
                <a:latin typeface="Calibri"/>
              </a:rPr>
              <a:t>0 of 12</a:t>
            </a:r>
          </a:p>
        </p:txBody>
      </p:sp>
      <p:sp>
        <p:nvSpPr>
          <p:cNvPr id="15" name="TextBox 14"/>
          <p:cNvSpPr txBox="1"/>
          <p:nvPr/>
        </p:nvSpPr>
        <p:spPr>
          <a:xfrm>
            <a:off x="8732519" y="5290820"/>
            <a:ext cx="2727655" cy="652779"/>
          </a:xfrm>
          <a:prstGeom prst="rect">
            <a:avLst/>
          </a:prstGeom>
          <a:noFill/>
        </p:spPr>
        <p:txBody>
          <a:bodyPr wrap="square" anchor="t" lIns="0" rIns="0" tIns="0" bIns="0">
            <a:spAutoFit/>
          </a:bodyPr>
          <a:lstStyle/>
          <a:p>
            <a:pPr algn="l">
              <a:spcAft>
                <a:spcPts val="0"/>
              </a:spcAft>
            </a:pPr>
            <a:r>
              <a:rPr sz="1400" b="0" i="0">
                <a:solidFill>
                  <a:srgbClr val="1B1F24"/>
                </a:solidFill>
                <a:latin typeface="Calibri"/>
              </a:rPr>
              <a:t>options that pass the robustness 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Reaching NPV = 0 would need conditions that the Dutch market does not offer today</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 model/results.json → extras; results_options.json → P2 stack and policy tests; gate-fee evidence market.md (MKT-20); chart deck/charts/breakeven.png (other inputs at base).</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13</a:t>
            </a:r>
          </a:p>
        </p:txBody>
      </p:sp>
      <p:sp>
        <p:nvSpPr>
          <p:cNvPr id="5" name="Chart caption"/>
          <p:cNvSpPr txBox="1"/>
          <p:nvPr/>
        </p:nvSpPr>
        <p:spPr>
          <a:xfrm>
            <a:off x="548640" y="1572768"/>
            <a:ext cx="5943600" cy="320040"/>
          </a:xfrm>
          <a:prstGeom prst="rect">
            <a:avLst/>
          </a:prstGeom>
          <a:noFill/>
        </p:spPr>
        <p:txBody>
          <a:bodyPr wrap="square" anchor="t" lIns="0" rIns="0" tIns="0" bIns="0">
            <a:spAutoFit/>
          </a:bodyPr>
          <a:lstStyle/>
          <a:p>
            <a:pPr algn="l">
              <a:spcAft>
                <a:spcPts val="0"/>
              </a:spcAft>
            </a:pPr>
            <a:r>
              <a:rPr sz="1400" b="0" i="0">
                <a:solidFill>
                  <a:srgbClr val="5F6368"/>
                </a:solidFill>
                <a:latin typeface="Calibri"/>
              </a:rPr>
              <a:t>NPV at 8% real (€ million) against volume and price; other inputs at base.</a:t>
            </a:r>
          </a:p>
        </p:txBody>
      </p:sp>
      <p:pic>
        <p:nvPicPr>
          <p:cNvPr id="6" name="Picture 5" descr="NPV against volume and against price; NPV = 0 at 134k m3 and at EUR 154/m3"/>
          <p:cNvPicPr>
            <a:picLocks noChangeAspect="1"/>
          </p:cNvPicPr>
          <p:nvPr/>
        </p:nvPicPr>
        <p:blipFill>
          <a:blip r:embed="rId3"/>
          <a:stretch>
            <a:fillRect/>
          </a:stretch>
        </p:blipFill>
        <p:spPr>
          <a:xfrm>
            <a:off x="457200" y="2659011"/>
            <a:ext cx="6126480" cy="2865856"/>
          </a:xfrm>
          <a:prstGeom prst="rect">
            <a:avLst/>
          </a:prstGeom>
        </p:spPr>
      </p:pic>
      <p:graphicFrame>
        <p:nvGraphicFramePr>
          <p:cNvPr id="7" name="Table 6"/>
          <p:cNvGraphicFramePr>
            <a:graphicFrameLocks noGrp="1"/>
          </p:cNvGraphicFramePr>
          <p:nvPr/>
        </p:nvGraphicFramePr>
        <p:xfrm>
          <a:off x="6720840" y="1737360"/>
          <a:ext cx="4922215" cy="4389120"/>
        </p:xfrm>
        <a:graphic>
          <a:graphicData uri="http://schemas.openxmlformats.org/drawingml/2006/table">
            <a:tbl>
              <a:tblPr firstRow="1" bandRow="1">
                <a:tableStyleId>{5C22544A-7EE6-4342-B048-85BDC9FD1C3A}</a:tableStyleId>
              </a:tblPr>
              <a:tblGrid>
                <a:gridCol w="2651760"/>
                <a:gridCol w="2270455"/>
              </a:tblGrid>
              <a:tr h="731520">
                <a:tc>
                  <a:txBody>
                    <a:bodyPr wrap="square"/>
                    <a:lstStyle/>
                    <a:p>
                      <a:pPr algn="l"/>
                      <a:r>
                        <a:rPr sz="1400" b="1" i="0">
                          <a:solidFill>
                            <a:srgbClr val="FFFFFF"/>
                          </a:solidFill>
                          <a:latin typeface="Calibri"/>
                        </a:rPr>
                        <a:t>NPV = 0 would need</a:t>
                      </a:r>
                    </a:p>
                  </a:txBody>
                  <a:tcPr marL="91440" marR="91440" marT="36576" marB="36576" anchor="ctr">
                    <a:solidFill>
                      <a:srgbClr val="14202B"/>
                    </a:solidFill>
                  </a:tcPr>
                </a:tc>
                <a:tc>
                  <a:txBody>
                    <a:bodyPr wrap="square"/>
                    <a:lstStyle/>
                    <a:p>
                      <a:pPr algn="l"/>
                      <a:r>
                        <a:rPr sz="1400" b="1" i="0">
                          <a:solidFill>
                            <a:srgbClr val="FFFFFF"/>
                          </a:solidFill>
                          <a:latin typeface="Calibri"/>
                        </a:rPr>
                        <a:t>Today / base</a:t>
                      </a:r>
                    </a:p>
                  </a:txBody>
                  <a:tcPr marL="91440" marR="91440" marT="36576" marB="36576" anchor="ctr">
                    <a:solidFill>
                      <a:srgbClr val="14202B"/>
                    </a:solidFill>
                  </a:tcPr>
                </a:tc>
              </a:tr>
              <a:tr h="731520">
                <a:tc>
                  <a:txBody>
                    <a:bodyPr wrap="square"/>
                    <a:lstStyle/>
                    <a:p>
                      <a:pPr algn="l"/>
                      <a:r>
                        <a:rPr sz="1400" b="1" i="0">
                          <a:solidFill>
                            <a:srgbClr val="1B1F24"/>
                          </a:solidFill>
                          <a:latin typeface="Calibri"/>
                        </a:rPr>
                        <a:t>134k m³ a year (+92%)</a:t>
                      </a:r>
                    </a:p>
                  </a:txBody>
                  <a:tcPr marL="91440" marR="91440" marT="36576" marB="36576" anchor="ctr">
                    <a:solidFill>
                      <a:srgbClr val="FFFFFF"/>
                    </a:solidFill>
                  </a:tcPr>
                </a:tc>
                <a:tc>
                  <a:txBody>
                    <a:bodyPr wrap="square"/>
                    <a:lstStyle/>
                    <a:p>
                      <a:pPr algn="l"/>
                      <a:r>
                        <a:rPr sz="1400" b="0" i="0">
                          <a:solidFill>
                            <a:srgbClr val="1B1F24"/>
                          </a:solidFill>
                          <a:latin typeface="Calibri"/>
                        </a:rPr>
                        <a:t>70k base; average plant 33.7k</a:t>
                      </a:r>
                    </a:p>
                  </a:txBody>
                  <a:tcPr marL="91440" marR="91440" marT="36576" marB="36576" anchor="ctr">
                    <a:solidFill>
                      <a:srgbClr val="FFFFFF"/>
                    </a:solidFill>
                  </a:tcPr>
                </a:tc>
              </a:tr>
              <a:tr h="731520">
                <a:tc>
                  <a:txBody>
                    <a:bodyPr wrap="square"/>
                    <a:lstStyle/>
                    <a:p>
                      <a:pPr algn="l"/>
                      <a:r>
                        <a:rPr sz="1400" b="1" i="0">
                          <a:solidFill>
                            <a:srgbClr val="1B1F24"/>
                          </a:solidFill>
                          <a:latin typeface="Calibri"/>
                        </a:rPr>
                        <a:t>€154/m³ average price (+14%)</a:t>
                      </a:r>
                    </a:p>
                  </a:txBody>
                  <a:tcPr marL="91440" marR="91440" marT="36576" marB="36576" anchor="ctr">
                    <a:solidFill>
                      <a:srgbClr val="F6F7F9"/>
                    </a:solidFill>
                  </a:tcPr>
                </a:tc>
                <a:tc>
                  <a:txBody>
                    <a:bodyPr wrap="square"/>
                    <a:lstStyle/>
                    <a:p>
                      <a:pPr algn="l"/>
                      <a:r>
                        <a:rPr sz="1400" b="0" i="0">
                          <a:solidFill>
                            <a:srgbClr val="1B1F24"/>
                          </a:solidFill>
                          <a:latin typeface="Calibri"/>
                        </a:rPr>
                        <a:t>€135, likely at or above market</a:t>
                      </a:r>
                    </a:p>
                  </a:txBody>
                  <a:tcPr marL="91440" marR="91440" marT="36576" marB="36576" anchor="ctr">
                    <a:solidFill>
                      <a:srgbClr val="F6F7F9"/>
                    </a:solidFill>
                  </a:tcPr>
                </a:tc>
              </a:tr>
              <a:tr h="731520">
                <a:tc>
                  <a:txBody>
                    <a:bodyPr wrap="square"/>
                    <a:lstStyle/>
                    <a:p>
                      <a:pPr algn="l"/>
                      <a:r>
                        <a:rPr sz="1400" b="1" i="0">
                          <a:solidFill>
                            <a:srgbClr val="1B1F24"/>
                          </a:solidFill>
                          <a:latin typeface="Calibri"/>
                        </a:rPr>
                        <a:t>58.5% public green premium</a:t>
                      </a:r>
                    </a:p>
                  </a:txBody>
                  <a:tcPr marL="91440" marR="91440" marT="36576" marB="36576" anchor="ctr">
                    <a:solidFill>
                      <a:srgbClr val="FFFFFF"/>
                    </a:solidFill>
                  </a:tcPr>
                </a:tc>
                <a:tc>
                  <a:txBody>
                    <a:bodyPr wrap="square"/>
                    <a:lstStyle/>
                    <a:p>
                      <a:pPr algn="l"/>
                      <a:r>
                        <a:rPr sz="1400" b="0" i="0">
                          <a:solidFill>
                            <a:srgbClr val="1B1F24"/>
                          </a:solidFill>
                          <a:latin typeface="Calibri"/>
                        </a:rPr>
                        <a:t>1.5% assumed (0–3%)</a:t>
                      </a:r>
                    </a:p>
                  </a:txBody>
                  <a:tcPr marL="91440" marR="91440" marT="36576" marB="36576" anchor="ctr">
                    <a:solidFill>
                      <a:srgbClr val="FFFFFF"/>
                    </a:solidFill>
                  </a:tcPr>
                </a:tc>
              </a:tr>
              <a:tr h="731520">
                <a:tc>
                  <a:txBody>
                    <a:bodyPr wrap="square"/>
                    <a:lstStyle/>
                    <a:p>
                      <a:pPr algn="l"/>
                      <a:r>
                        <a:rPr sz="1400" b="1" i="0">
                          <a:solidFill>
                            <a:srgbClr val="1B1F24"/>
                          </a:solidFill>
                          <a:latin typeface="Calibri"/>
                        </a:rPr>
                        <a:t>Gate fee ≈ €30/t (best package P2)</a:t>
                      </a:r>
                    </a:p>
                  </a:txBody>
                  <a:tcPr marL="91440" marR="91440" marT="36576" marB="36576" anchor="ctr">
                    <a:solidFill>
                      <a:srgbClr val="F6F7F9"/>
                    </a:solidFill>
                  </a:tcPr>
                </a:tc>
                <a:tc>
                  <a:txBody>
                    <a:bodyPr wrap="square"/>
                    <a:lstStyle/>
                    <a:p>
                      <a:pPr algn="l"/>
                      <a:r>
                        <a:rPr sz="1400" b="0" i="0">
                          <a:solidFill>
                            <a:srgbClr val="1B1F24"/>
                          </a:solidFill>
                          <a:latin typeface="Calibri"/>
                        </a:rPr>
                        <a:t>€0–1/t for clean rubble in bulk</a:t>
                      </a:r>
                    </a:p>
                  </a:txBody>
                  <a:tcPr marL="91440" marR="91440" marT="36576" marB="36576" anchor="ctr">
                    <a:solidFill>
                      <a:srgbClr val="F6F7F9"/>
                    </a:solidFill>
                  </a:tcPr>
                </a:tc>
              </a:tr>
              <a:tr h="731520">
                <a:tc>
                  <a:txBody>
                    <a:bodyPr wrap="square"/>
                    <a:lstStyle/>
                    <a:p>
                      <a:pPr algn="l"/>
                      <a:r>
                        <a:rPr sz="1400" b="1" i="0">
                          <a:solidFill>
                            <a:srgbClr val="1B1F24"/>
                          </a:solidFill>
                          <a:latin typeface="Calibri"/>
                        </a:rPr>
                        <a:t>A policy rescue</a:t>
                      </a:r>
                    </a:p>
                  </a:txBody>
                  <a:tcPr marL="91440" marR="91440" marT="36576" marB="36576" anchor="ctr">
                    <a:solidFill>
                      <a:srgbClr val="FFFFFF"/>
                    </a:solidFill>
                  </a:tcPr>
                </a:tc>
                <a:tc>
                  <a:txBody>
                    <a:bodyPr wrap="square"/>
                    <a:lstStyle/>
                    <a:p>
                      <a:pPr algn="l"/>
                      <a:r>
                        <a:rPr sz="1400" b="0" i="0">
                          <a:solidFill>
                            <a:srgbClr val="1B1F24"/>
                          </a:solidFill>
                          <a:latin typeface="Calibri"/>
                        </a:rPr>
                        <a:t>Aggregate levy: no level works; faster ETS: hurts</a:t>
                      </a:r>
                    </a:p>
                  </a:txBody>
                  <a:tcPr marL="91440" marR="91440" marT="36576" marB="36576"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Our ask: no investment now, only a €50–100k due-diligence phase with hard stop rules</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Sources: research/viability_options.md §7; value_proposition.md §6; review/response.md (M10). Gate B is expected to fail on today's evidence (MKT-20).</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14</a:t>
            </a:r>
          </a:p>
        </p:txBody>
      </p:sp>
      <p:sp>
        <p:nvSpPr>
          <p:cNvPr id="5" name="Rounded Rectangle 4"/>
          <p:cNvSpPr/>
          <p:nvPr/>
        </p:nvSpPr>
        <p:spPr>
          <a:xfrm>
            <a:off x="548640" y="1691640"/>
            <a:ext cx="3515258" cy="237744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520440"/>
            <a:ext cx="3058058" cy="411480"/>
          </a:xfrm>
          <a:prstGeom prst="rect">
            <a:avLst/>
          </a:prstGeom>
          <a:noFill/>
        </p:spPr>
        <p:txBody>
          <a:bodyPr wrap="square" anchor="t" lIns="0" rIns="0" tIns="0" bIns="0">
            <a:spAutoFit/>
          </a:bodyPr>
          <a:lstStyle/>
          <a:p>
            <a:pPr algn="l">
              <a:spcAft>
                <a:spcPts val="600"/>
              </a:spcAft>
            </a:pPr>
            <a:r>
              <a:rPr sz="1400" b="1" i="0">
                <a:solidFill>
                  <a:srgbClr val="5F6368"/>
                </a:solidFill>
                <a:latin typeface="Calibri"/>
              </a:rPr>
              <a:t>Status: untested</a:t>
            </a:r>
          </a:p>
        </p:txBody>
      </p:sp>
      <p:sp>
        <p:nvSpPr>
          <p:cNvPr id="7" name="TextBox 6"/>
          <p:cNvSpPr txBox="1"/>
          <p:nvPr/>
        </p:nvSpPr>
        <p:spPr>
          <a:xfrm>
            <a:off x="777240" y="1810512"/>
            <a:ext cx="3058058" cy="411480"/>
          </a:xfrm>
          <a:prstGeom prst="rect">
            <a:avLst/>
          </a:prstGeom>
          <a:noFill/>
        </p:spPr>
        <p:txBody>
          <a:bodyPr wrap="square" anchor="t" lIns="0" rIns="0" tIns="0" bIns="0">
            <a:spAutoFit/>
          </a:bodyPr>
          <a:lstStyle/>
          <a:p>
            <a:pPr algn="l">
              <a:spcAft>
                <a:spcPts val="600"/>
              </a:spcAft>
            </a:pPr>
            <a:r>
              <a:rPr sz="1800" b="1" i="0">
                <a:solidFill>
                  <a:srgbClr val="2A78D6"/>
                </a:solidFill>
                <a:latin typeface="Calibri"/>
              </a:rPr>
              <a:t>Gate A — plant</a:t>
            </a:r>
          </a:p>
        </p:txBody>
      </p:sp>
      <p:sp>
        <p:nvSpPr>
          <p:cNvPr id="8" name="TextBox 7"/>
          <p:cNvSpPr txBox="1"/>
          <p:nvPr/>
        </p:nvSpPr>
        <p:spPr>
          <a:xfrm>
            <a:off x="777240" y="2286000"/>
            <a:ext cx="3058058" cy="1737360"/>
          </a:xfrm>
          <a:prstGeom prst="rect">
            <a:avLst/>
          </a:prstGeom>
          <a:noFill/>
        </p:spPr>
        <p:txBody>
          <a:bodyPr wrap="square" anchor="t" lIns="0" rIns="0" tIns="0" bIns="0">
            <a:spAutoFit/>
          </a:bodyPr>
          <a:lstStyle/>
          <a:p>
            <a:pPr algn="l">
              <a:spcAft>
                <a:spcPts val="600"/>
              </a:spcAft>
            </a:pPr>
            <a:r>
              <a:rPr sz="1500" b="0" i="0">
                <a:solidFill>
                  <a:srgbClr val="1B1F24"/>
                </a:solidFill>
                <a:latin typeface="Calibri"/>
              </a:rPr>
              <a:t>A waterside ready-mix plant in Zuid-Holland for ≤ €2.5M, with space and a permit route for rubble; expansion quote ≤ €1.0M.</a:t>
            </a:r>
          </a:p>
        </p:txBody>
      </p:sp>
      <p:sp>
        <p:nvSpPr>
          <p:cNvPr id="9" name="Rounded Rectangle 8"/>
          <p:cNvSpPr/>
          <p:nvPr/>
        </p:nvSpPr>
        <p:spPr>
          <a:xfrm>
            <a:off x="4338218" y="1691640"/>
            <a:ext cx="3515258" cy="237744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6818" y="3520440"/>
            <a:ext cx="3058058" cy="411480"/>
          </a:xfrm>
          <a:prstGeom prst="rect">
            <a:avLst/>
          </a:prstGeom>
          <a:noFill/>
        </p:spPr>
        <p:txBody>
          <a:bodyPr wrap="square" anchor="t" lIns="0" rIns="0" tIns="0" bIns="0">
            <a:spAutoFit/>
          </a:bodyPr>
          <a:lstStyle/>
          <a:p>
            <a:pPr algn="l">
              <a:spcAft>
                <a:spcPts val="600"/>
              </a:spcAft>
            </a:pPr>
            <a:r>
              <a:rPr sz="1400" b="1" i="0">
                <a:solidFill>
                  <a:srgbClr val="C94A16"/>
                </a:solidFill>
                <a:latin typeface="Calibri"/>
              </a:rPr>
              <a:t>Status: likely fails on today's evidence</a:t>
            </a:r>
          </a:p>
        </p:txBody>
      </p:sp>
      <p:sp>
        <p:nvSpPr>
          <p:cNvPr id="11" name="TextBox 10"/>
          <p:cNvSpPr txBox="1"/>
          <p:nvPr/>
        </p:nvSpPr>
        <p:spPr>
          <a:xfrm>
            <a:off x="4566818" y="1810512"/>
            <a:ext cx="3058058" cy="411480"/>
          </a:xfrm>
          <a:prstGeom prst="rect">
            <a:avLst/>
          </a:prstGeom>
          <a:noFill/>
        </p:spPr>
        <p:txBody>
          <a:bodyPr wrap="square" anchor="t" lIns="0" rIns="0" tIns="0" bIns="0">
            <a:spAutoFit/>
          </a:bodyPr>
          <a:lstStyle/>
          <a:p>
            <a:pPr algn="l">
              <a:spcAft>
                <a:spcPts val="600"/>
              </a:spcAft>
            </a:pPr>
            <a:r>
              <a:rPr sz="1800" b="1" i="0">
                <a:solidFill>
                  <a:srgbClr val="2A78D6"/>
                </a:solidFill>
                <a:latin typeface="Calibri"/>
              </a:rPr>
              <a:t>Gate B — rubble (hard gate)</a:t>
            </a:r>
          </a:p>
        </p:txBody>
      </p:sp>
      <p:sp>
        <p:nvSpPr>
          <p:cNvPr id="12" name="TextBox 11"/>
          <p:cNvSpPr txBox="1"/>
          <p:nvPr/>
        </p:nvSpPr>
        <p:spPr>
          <a:xfrm>
            <a:off x="4566818" y="2286000"/>
            <a:ext cx="3058058" cy="1737360"/>
          </a:xfrm>
          <a:prstGeom prst="rect">
            <a:avLst/>
          </a:prstGeom>
          <a:noFill/>
        </p:spPr>
        <p:txBody>
          <a:bodyPr wrap="square" anchor="t" lIns="0" rIns="0" tIns="0" bIns="0">
            <a:spAutoFit/>
          </a:bodyPr>
          <a:lstStyle/>
          <a:p>
            <a:pPr algn="l">
              <a:spcAft>
                <a:spcPts val="600"/>
              </a:spcAft>
            </a:pPr>
            <a:r>
              <a:rPr sz="1500" b="0" i="0">
                <a:solidFill>
                  <a:srgbClr val="1B1F24"/>
                </a:solidFill>
                <a:latin typeface="Calibri"/>
              </a:rPr>
              <a:t>A 7–10-year contract with a gate fee and steel split that give NPV ≥ 0 (≈ €15–30/t). Evidence today: €0–1/t.</a:t>
            </a:r>
          </a:p>
        </p:txBody>
      </p:sp>
      <p:sp>
        <p:nvSpPr>
          <p:cNvPr id="13" name="Rounded Rectangle 12"/>
          <p:cNvSpPr/>
          <p:nvPr/>
        </p:nvSpPr>
        <p:spPr>
          <a:xfrm>
            <a:off x="8127796" y="1691640"/>
            <a:ext cx="3515258" cy="237744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6396" y="3520440"/>
            <a:ext cx="3058058" cy="411480"/>
          </a:xfrm>
          <a:prstGeom prst="rect">
            <a:avLst/>
          </a:prstGeom>
          <a:noFill/>
        </p:spPr>
        <p:txBody>
          <a:bodyPr wrap="square" anchor="t" lIns="0" rIns="0" tIns="0" bIns="0">
            <a:spAutoFit/>
          </a:bodyPr>
          <a:lstStyle/>
          <a:p>
            <a:pPr algn="l">
              <a:spcAft>
                <a:spcPts val="600"/>
              </a:spcAft>
            </a:pPr>
            <a:r>
              <a:rPr sz="1400" b="1" i="0">
                <a:solidFill>
                  <a:srgbClr val="5F6368"/>
                </a:solidFill>
                <a:latin typeface="Calibri"/>
              </a:rPr>
              <a:t>Status: untested</a:t>
            </a:r>
          </a:p>
        </p:txBody>
      </p:sp>
      <p:sp>
        <p:nvSpPr>
          <p:cNvPr id="15" name="TextBox 14"/>
          <p:cNvSpPr txBox="1"/>
          <p:nvPr/>
        </p:nvSpPr>
        <p:spPr>
          <a:xfrm>
            <a:off x="8356396" y="1810512"/>
            <a:ext cx="3058058" cy="411480"/>
          </a:xfrm>
          <a:prstGeom prst="rect">
            <a:avLst/>
          </a:prstGeom>
          <a:noFill/>
        </p:spPr>
        <p:txBody>
          <a:bodyPr wrap="square" anchor="t" lIns="0" rIns="0" tIns="0" bIns="0">
            <a:spAutoFit/>
          </a:bodyPr>
          <a:lstStyle/>
          <a:p>
            <a:pPr algn="l">
              <a:spcAft>
                <a:spcPts val="600"/>
              </a:spcAft>
            </a:pPr>
            <a:r>
              <a:rPr sz="1800" b="1" i="0">
                <a:solidFill>
                  <a:srgbClr val="2A78D6"/>
                </a:solidFill>
                <a:latin typeface="Calibri"/>
              </a:rPr>
              <a:t>Gate C — volume</a:t>
            </a:r>
          </a:p>
        </p:txBody>
      </p:sp>
      <p:sp>
        <p:nvSpPr>
          <p:cNvPr id="16" name="TextBox 15"/>
          <p:cNvSpPr txBox="1"/>
          <p:nvPr/>
        </p:nvSpPr>
        <p:spPr>
          <a:xfrm>
            <a:off x="8356396" y="2286000"/>
            <a:ext cx="3058058" cy="1737360"/>
          </a:xfrm>
          <a:prstGeom prst="rect">
            <a:avLst/>
          </a:prstGeom>
          <a:noFill/>
        </p:spPr>
        <p:txBody>
          <a:bodyPr wrap="square" anchor="t" lIns="0" rIns="0" tIns="0" bIns="0">
            <a:spAutoFit/>
          </a:bodyPr>
          <a:lstStyle/>
          <a:p>
            <a:pPr algn="l">
              <a:spcAft>
                <a:spcPts val="600"/>
              </a:spcAft>
            </a:pPr>
            <a:r>
              <a:rPr sz="1500" b="0" i="0">
                <a:solidFill>
                  <a:srgbClr val="1B1F24"/>
                </a:solidFill>
                <a:latin typeface="Calibri"/>
              </a:rPr>
              <a:t>Framework or offtake contracts for ≥ 40k m³ a year with civil-works contractors or public clients, signed before any purchase.</a:t>
            </a:r>
          </a:p>
        </p:txBody>
      </p:sp>
      <p:sp>
        <p:nvSpPr>
          <p:cNvPr id="17" name="Rounded Rectangle 16"/>
          <p:cNvSpPr/>
          <p:nvPr/>
        </p:nvSpPr>
        <p:spPr>
          <a:xfrm>
            <a:off x="548640" y="4297680"/>
            <a:ext cx="11094415" cy="1828800"/>
          </a:xfrm>
          <a:prstGeom prst="roundRect">
            <a:avLst>
              <a:gd name="adj" fmla="val 6000"/>
            </a:avLst>
          </a:prstGeom>
          <a:solidFill>
            <a:srgbClr val="142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407408"/>
            <a:ext cx="10454335" cy="457200"/>
          </a:xfrm>
          <a:prstGeom prst="rect">
            <a:avLst/>
          </a:prstGeom>
          <a:noFill/>
        </p:spPr>
        <p:txBody>
          <a:bodyPr wrap="square" anchor="t" lIns="0" rIns="0" tIns="0" bIns="0">
            <a:spAutoFit/>
          </a:bodyPr>
          <a:lstStyle/>
          <a:p>
            <a:pPr algn="l">
              <a:spcAft>
                <a:spcPts val="600"/>
              </a:spcAft>
            </a:pPr>
            <a:r>
              <a:rPr sz="1800" b="1" i="0">
                <a:solidFill>
                  <a:srgbClr val="FFFFFF"/>
                </a:solidFill>
                <a:latin typeface="Calibri"/>
              </a:rPr>
              <a:t>Stop rules</a:t>
            </a:r>
          </a:p>
        </p:txBody>
      </p:sp>
      <p:sp>
        <p:nvSpPr>
          <p:cNvPr id="19" name="TextBox 18"/>
          <p:cNvSpPr txBox="1"/>
          <p:nvPr/>
        </p:nvSpPr>
        <p:spPr>
          <a:xfrm>
            <a:off x="868680" y="4846320"/>
            <a:ext cx="10454335" cy="1234440"/>
          </a:xfrm>
          <a:prstGeom prst="rect">
            <a:avLst/>
          </a:prstGeom>
          <a:noFill/>
        </p:spPr>
        <p:txBody>
          <a:bodyPr wrap="square" anchor="t" lIns="0" rIns="0" tIns="0" bIns="0">
            <a:spAutoFit/>
          </a:bodyPr>
          <a:lstStyle/>
          <a:p>
            <a:pPr algn="l">
              <a:spcAft>
                <a:spcPts val="500"/>
              </a:spcAft>
            </a:pPr>
            <a:r>
              <a:rPr sz="1500" b="0" i="0">
                <a:solidFill>
                  <a:srgbClr val="FFFFFF"/>
                </a:solidFill>
                <a:latin typeface="Calibri"/>
              </a:rPr>
              <a:t>• Any gate fails → stop. The loss is capped at the €50–100k diligence budget.</a:t>
            </a:r>
          </a:p>
          <a:p>
            <a:pPr algn="l">
              <a:spcAft>
                <a:spcPts val="500"/>
              </a:spcAft>
            </a:pPr>
            <a:r>
              <a:rPr sz="1500" b="0" i="0">
                <a:solidFill>
                  <a:srgbClr val="FFFFFF"/>
                </a:solidFill>
                <a:latin typeface="Calibri"/>
              </a:rPr>
              <a:t>• All gates pass → invest only if the model, re-run with the signed terms, passes all four tests.</a:t>
            </a:r>
          </a:p>
          <a:p>
            <a:pPr algn="l">
              <a:spcAft>
                <a:spcPts val="500"/>
              </a:spcAft>
            </a:pPr>
            <a:r>
              <a:rPr sz="1500" b="0" i="0">
                <a:solidFill>
                  <a:srgbClr val="FFFFFF"/>
                </a:solidFill>
                <a:latin typeface="Calibri"/>
              </a:rPr>
              <a:t>• Never: a greenfield plant. Asset-light licensing only as a capped pilot (max €0.5M).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94415" cy="1097280"/>
          </a:xfrm>
          <a:prstGeom prst="rect">
            <a:avLst/>
          </a:prstGeom>
          <a:noFill/>
        </p:spPr>
        <p:txBody>
          <a:bodyPr wrap="square" anchor="t" lIns="0" rIns="0" tIns="0" bIns="0">
            <a:spAutoFit/>
          </a:bodyPr>
          <a:lstStyle/>
          <a:p>
            <a:pPr algn="l">
              <a:spcAft>
                <a:spcPts val="0"/>
              </a:spcAft>
            </a:pPr>
            <a:r>
              <a:rPr sz="3000" b="1" i="0">
                <a:solidFill>
                  <a:srgbClr val="1B1F24"/>
                </a:solidFill>
                <a:latin typeface="Calibri"/>
              </a:rPr>
              <a:t>Appendix: the key assumptions behind these numbers, and how sure we are</a:t>
            </a:r>
          </a:p>
        </p:txBody>
      </p:sp>
      <p:sp>
        <p:nvSpPr>
          <p:cNvPr id="3" name="Source"/>
          <p:cNvSpPr txBox="1"/>
          <p:nvPr/>
        </p:nvSpPr>
        <p:spPr>
          <a:xfrm>
            <a:off x="548640" y="6382512"/>
            <a:ext cx="10180015" cy="320040"/>
          </a:xfrm>
          <a:prstGeom prst="rect">
            <a:avLst/>
          </a:prstGeom>
          <a:noFill/>
        </p:spPr>
        <p:txBody>
          <a:bodyPr wrap="square" anchor="b" lIns="0" rIns="0" tIns="0" bIns="0">
            <a:spAutoFit/>
          </a:bodyPr>
          <a:lstStyle/>
          <a:p>
            <a:pPr algn="l">
              <a:spcAft>
                <a:spcPts val="0"/>
              </a:spcAft>
            </a:pPr>
            <a:r>
              <a:rPr sz="1000" b="0" i="0">
                <a:solidFill>
                  <a:srgbClr val="5F6368"/>
                </a:solidFill>
                <a:latin typeface="Calibri"/>
              </a:rPr>
              <a:t>Full lists: research/assumptions.md, research/sources.md, model/inputs.csv. Labels: VERIFIED = source read; ESTIMATE = derived; ASSUMPTION = no source. Confidence H / M / L.</a:t>
            </a:r>
          </a:p>
        </p:txBody>
      </p:sp>
      <p:sp>
        <p:nvSpPr>
          <p:cNvPr id="4" name="Slide number"/>
          <p:cNvSpPr txBox="1"/>
          <p:nvPr/>
        </p:nvSpPr>
        <p:spPr>
          <a:xfrm>
            <a:off x="10911535" y="6382512"/>
            <a:ext cx="731520" cy="320040"/>
          </a:xfrm>
          <a:prstGeom prst="rect">
            <a:avLst/>
          </a:prstGeom>
          <a:noFill/>
        </p:spPr>
        <p:txBody>
          <a:bodyPr wrap="square" anchor="b" lIns="0" rIns="0" tIns="0" bIns="0">
            <a:spAutoFit/>
          </a:bodyPr>
          <a:lstStyle/>
          <a:p>
            <a:pPr algn="r">
              <a:spcAft>
                <a:spcPts val="0"/>
              </a:spcAft>
            </a:pPr>
            <a:r>
              <a:rPr sz="1000" b="0" i="0">
                <a:solidFill>
                  <a:srgbClr val="5F6368"/>
                </a:solidFill>
                <a:latin typeface="Calibri"/>
              </a:rPr>
              <a:t>15</a:t>
            </a:r>
          </a:p>
        </p:txBody>
      </p:sp>
      <p:graphicFrame>
        <p:nvGraphicFramePr>
          <p:cNvPr id="5" name="Table 4"/>
          <p:cNvGraphicFramePr>
            <a:graphicFrameLocks noGrp="1"/>
          </p:cNvGraphicFramePr>
          <p:nvPr/>
        </p:nvGraphicFramePr>
        <p:xfrm>
          <a:off x="548640" y="1645920"/>
          <a:ext cx="11094415" cy="4526280"/>
        </p:xfrm>
        <a:graphic>
          <a:graphicData uri="http://schemas.openxmlformats.org/drawingml/2006/table">
            <a:tbl>
              <a:tblPr firstRow="1" bandRow="1">
                <a:tableStyleId>{5C22544A-7EE6-4342-B048-85BDC9FD1C3A}</a:tableStyleId>
              </a:tblPr>
              <a:tblGrid>
                <a:gridCol w="4023360"/>
                <a:gridCol w="2651760"/>
                <a:gridCol w="3520440"/>
                <a:gridCol w="898855"/>
              </a:tblGrid>
              <a:tr h="411480">
                <a:tc>
                  <a:txBody>
                    <a:bodyPr wrap="square"/>
                    <a:lstStyle/>
                    <a:p>
                      <a:pPr algn="l"/>
                      <a:r>
                        <a:rPr sz="1400" b="1" i="0">
                          <a:solidFill>
                            <a:srgbClr val="FFFFFF"/>
                          </a:solidFill>
                          <a:latin typeface="Calibri"/>
                        </a:rPr>
                        <a:t>Input</a:t>
                      </a:r>
                    </a:p>
                  </a:txBody>
                  <a:tcPr marL="91440" marR="91440" marT="36576" marB="36576" anchor="ctr">
                    <a:solidFill>
                      <a:srgbClr val="14202B"/>
                    </a:solidFill>
                  </a:tcPr>
                </a:tc>
                <a:tc>
                  <a:txBody>
                    <a:bodyPr wrap="square"/>
                    <a:lstStyle/>
                    <a:p>
                      <a:pPr algn="l"/>
                      <a:r>
                        <a:rPr sz="1400" b="1" i="0">
                          <a:solidFill>
                            <a:srgbClr val="FFFFFF"/>
                          </a:solidFill>
                          <a:latin typeface="Calibri"/>
                        </a:rPr>
                        <a:t>Base (low–high)</a:t>
                      </a:r>
                    </a:p>
                  </a:txBody>
                  <a:tcPr marL="91440" marR="91440" marT="36576" marB="36576" anchor="ctr">
                    <a:solidFill>
                      <a:srgbClr val="14202B"/>
                    </a:solidFill>
                  </a:tcPr>
                </a:tc>
                <a:tc>
                  <a:txBody>
                    <a:bodyPr wrap="square"/>
                    <a:lstStyle/>
                    <a:p>
                      <a:pPr algn="l"/>
                      <a:r>
                        <a:rPr sz="1400" b="1" i="0">
                          <a:solidFill>
                            <a:srgbClr val="FFFFFF"/>
                          </a:solidFill>
                          <a:latin typeface="Calibri"/>
                        </a:rPr>
                        <a:t>Label, ID</a:t>
                      </a:r>
                    </a:p>
                  </a:txBody>
                  <a:tcPr marL="91440" marR="91440" marT="36576" marB="36576" anchor="ctr">
                    <a:solidFill>
                      <a:srgbClr val="14202B"/>
                    </a:solidFill>
                  </a:tcPr>
                </a:tc>
                <a:tc>
                  <a:txBody>
                    <a:bodyPr wrap="square"/>
                    <a:lstStyle/>
                    <a:p>
                      <a:pPr algn="ctr"/>
                      <a:r>
                        <a:rPr sz="1400" b="1" i="0">
                          <a:solidFill>
                            <a:srgbClr val="FFFFFF"/>
                          </a:solidFill>
                          <a:latin typeface="Calibri"/>
                        </a:rPr>
                        <a:t>Conf.</a:t>
                      </a:r>
                    </a:p>
                  </a:txBody>
                  <a:tcPr marL="91440" marR="91440" marT="36576" marB="36576" anchor="ctr">
                    <a:solidFill>
                      <a:srgbClr val="14202B"/>
                    </a:solidFill>
                  </a:tcPr>
                </a:tc>
              </a:tr>
              <a:tr h="411480">
                <a:tc>
                  <a:txBody>
                    <a:bodyPr wrap="square"/>
                    <a:lstStyle/>
                    <a:p>
                      <a:pPr algn="l"/>
                      <a:r>
                        <a:rPr sz="1400" b="0" i="0">
                          <a:solidFill>
                            <a:srgbClr val="1B1F24"/>
                          </a:solidFill>
                          <a:latin typeface="Calibri"/>
                        </a:rPr>
                        <a:t>Average selling price, delivered</a:t>
                      </a:r>
                    </a:p>
                  </a:txBody>
                  <a:tcPr marL="91440" marR="91440" marT="36576" marB="36576" anchor="ctr">
                    <a:solidFill>
                      <a:srgbClr val="FFFFFF"/>
                    </a:solidFill>
                  </a:tcPr>
                </a:tc>
                <a:tc>
                  <a:txBody>
                    <a:bodyPr wrap="square"/>
                    <a:lstStyle/>
                    <a:p>
                      <a:pPr algn="l"/>
                      <a:r>
                        <a:rPr sz="1400" b="0" i="0">
                          <a:solidFill>
                            <a:srgbClr val="1B1F24"/>
                          </a:solidFill>
                          <a:latin typeface="Calibri"/>
                        </a:rPr>
                        <a:t>€135/m³ (115–155)</a:t>
                      </a:r>
                    </a:p>
                  </a:txBody>
                  <a:tcPr marL="91440" marR="91440" marT="36576" marB="36576" anchor="ctr">
                    <a:solidFill>
                      <a:srgbClr val="FFFFFF"/>
                    </a:solidFill>
                  </a:tcPr>
                </a:tc>
                <a:tc>
                  <a:txBody>
                    <a:bodyPr wrap="square"/>
                    <a:lstStyle/>
                    <a:p>
                      <a:pPr algn="l"/>
                      <a:r>
                        <a:rPr sz="1400" b="0" i="0">
                          <a:solidFill>
                            <a:srgbClr val="1B1F24"/>
                          </a:solidFill>
                          <a:latin typeface="Calibri"/>
                        </a:rPr>
                        <a:t>ESTIMATE, A-MKT-16</a:t>
                      </a:r>
                    </a:p>
                  </a:txBody>
                  <a:tcPr marL="91440" marR="91440" marT="36576" marB="36576" anchor="ctr">
                    <a:solidFill>
                      <a:srgbClr val="FFFFFF"/>
                    </a:solidFill>
                  </a:tcPr>
                </a:tc>
                <a:tc>
                  <a:txBody>
                    <a:bodyPr wrap="square"/>
                    <a:lstStyle/>
                    <a:p>
                      <a:pPr algn="ctr"/>
                      <a:r>
                        <a:rPr sz="1400" b="0" i="0">
                          <a:solidFill>
                            <a:srgbClr val="1B1F24"/>
                          </a:solidFill>
                          <a:latin typeface="Calibri"/>
                        </a:rPr>
                        <a:t>L</a:t>
                      </a:r>
                    </a:p>
                  </a:txBody>
                  <a:tcPr marL="91440" marR="91440" marT="36576" marB="36576" anchor="ctr">
                    <a:solidFill>
                      <a:srgbClr val="FFFFFF"/>
                    </a:solidFill>
                  </a:tcPr>
                </a:tc>
              </a:tr>
              <a:tr h="411480">
                <a:tc>
                  <a:txBody>
                    <a:bodyPr wrap="square"/>
                    <a:lstStyle/>
                    <a:p>
                      <a:pPr algn="l"/>
                      <a:r>
                        <a:rPr sz="1400" b="0" i="0">
                          <a:solidFill>
                            <a:srgbClr val="1B1F24"/>
                          </a:solidFill>
                          <a:latin typeface="Calibri"/>
                        </a:rPr>
                        <a:t>Steady-state volume; ramp 2028/29/30</a:t>
                      </a:r>
                    </a:p>
                  </a:txBody>
                  <a:tcPr marL="91440" marR="91440" marT="36576" marB="36576" anchor="ctr">
                    <a:solidFill>
                      <a:srgbClr val="F6F7F9"/>
                    </a:solidFill>
                  </a:tcPr>
                </a:tc>
                <a:tc>
                  <a:txBody>
                    <a:bodyPr wrap="square"/>
                    <a:lstStyle/>
                    <a:p>
                      <a:pPr algn="l"/>
                      <a:r>
                        <a:rPr sz="1400" b="0" i="0">
                          <a:solidFill>
                            <a:srgbClr val="1B1F24"/>
                          </a:solidFill>
                          <a:latin typeface="Calibri"/>
                        </a:rPr>
                        <a:t>70k m³; 50/79/100%</a:t>
                      </a:r>
                    </a:p>
                  </a:txBody>
                  <a:tcPr marL="91440" marR="91440" marT="36576" marB="36576" anchor="ctr">
                    <a:solidFill>
                      <a:srgbClr val="F6F7F9"/>
                    </a:solidFill>
                  </a:tcPr>
                </a:tc>
                <a:tc>
                  <a:txBody>
                    <a:bodyPr wrap="square"/>
                    <a:lstStyle/>
                    <a:p>
                      <a:pPr algn="l"/>
                      <a:r>
                        <a:rPr sz="1400" b="0" i="0">
                          <a:solidFill>
                            <a:srgbClr val="1B1F24"/>
                          </a:solidFill>
                          <a:latin typeface="Calibri"/>
                        </a:rPr>
                        <a:t>ESTIMATE, A-CST-01</a:t>
                      </a:r>
                    </a:p>
                  </a:txBody>
                  <a:tcPr marL="91440" marR="91440" marT="36576" marB="36576" anchor="ctr">
                    <a:solidFill>
                      <a:srgbClr val="F6F7F9"/>
                    </a:solidFill>
                  </a:tcPr>
                </a:tc>
                <a:tc>
                  <a:txBody>
                    <a:bodyPr wrap="square"/>
                    <a:lstStyle/>
                    <a:p>
                      <a:pPr algn="ctr"/>
                      <a:r>
                        <a:rPr sz="1400" b="0" i="0">
                          <a:solidFill>
                            <a:srgbClr val="1B1F24"/>
                          </a:solidFill>
                          <a:latin typeface="Calibri"/>
                        </a:rPr>
                        <a:t>L</a:t>
                      </a:r>
                    </a:p>
                  </a:txBody>
                  <a:tcPr marL="91440" marR="91440" marT="36576" marB="36576" anchor="ctr">
                    <a:solidFill>
                      <a:srgbClr val="F6F7F9"/>
                    </a:solidFill>
                  </a:tcPr>
                </a:tc>
              </a:tr>
              <a:tr h="411480">
                <a:tc>
                  <a:txBody>
                    <a:bodyPr wrap="square"/>
                    <a:lstStyle/>
                    <a:p>
                      <a:pPr algn="l"/>
                      <a:r>
                        <a:rPr sz="1400" b="0" i="0">
                          <a:solidFill>
                            <a:srgbClr val="1B1F24"/>
                          </a:solidFill>
                          <a:latin typeface="Calibri"/>
                        </a:rPr>
                        <a:t>Capex: plant + civil + permits</a:t>
                      </a:r>
                    </a:p>
                  </a:txBody>
                  <a:tcPr marL="91440" marR="91440" marT="36576" marB="36576" anchor="ctr">
                    <a:solidFill>
                      <a:srgbClr val="FFFFFF"/>
                    </a:solidFill>
                  </a:tcPr>
                </a:tc>
                <a:tc>
                  <a:txBody>
                    <a:bodyPr wrap="square"/>
                    <a:lstStyle/>
                    <a:p>
                      <a:pPr algn="l"/>
                      <a:r>
                        <a:rPr sz="1400" b="0" i="0">
                          <a:solidFill>
                            <a:srgbClr val="1B1F24"/>
                          </a:solidFill>
                          <a:latin typeface="Calibri"/>
                        </a:rPr>
                        <a:t>€5.5M (4.0–8.0)</a:t>
                      </a:r>
                    </a:p>
                  </a:txBody>
                  <a:tcPr marL="91440" marR="91440" marT="36576" marB="36576" anchor="ctr">
                    <a:solidFill>
                      <a:srgbClr val="FFFFFF"/>
                    </a:solidFill>
                  </a:tcPr>
                </a:tc>
                <a:tc>
                  <a:txBody>
                    <a:bodyPr wrap="square"/>
                    <a:lstStyle/>
                    <a:p>
                      <a:pPr algn="l"/>
                      <a:r>
                        <a:rPr sz="1400" b="0" i="0">
                          <a:solidFill>
                            <a:srgbClr val="1B1F24"/>
                          </a:solidFill>
                          <a:latin typeface="Calibri"/>
                        </a:rPr>
                        <a:t>ESTIMATE, A-CST-02</a:t>
                      </a:r>
                    </a:p>
                  </a:txBody>
                  <a:tcPr marL="91440" marR="91440" marT="36576" marB="36576" anchor="ctr">
                    <a:solidFill>
                      <a:srgbClr val="FFFFFF"/>
                    </a:solidFill>
                  </a:tcPr>
                </a:tc>
                <a:tc>
                  <a:txBody>
                    <a:bodyPr wrap="square"/>
                    <a:lstStyle/>
                    <a:p>
                      <a:pPr algn="ctr"/>
                      <a:r>
                        <a:rPr sz="1400" b="0" i="0">
                          <a:solidFill>
                            <a:srgbClr val="1B1F24"/>
                          </a:solidFill>
                          <a:latin typeface="Calibri"/>
                        </a:rPr>
                        <a:t>L</a:t>
                      </a:r>
                    </a:p>
                  </a:txBody>
                  <a:tcPr marL="91440" marR="91440" marT="36576" marB="36576" anchor="ctr">
                    <a:solidFill>
                      <a:srgbClr val="FFFFFF"/>
                    </a:solidFill>
                  </a:tcPr>
                </a:tc>
              </a:tr>
              <a:tr h="411480">
                <a:tc>
                  <a:txBody>
                    <a:bodyPr wrap="square"/>
                    <a:lstStyle/>
                    <a:p>
                      <a:pPr algn="l"/>
                      <a:r>
                        <a:rPr sz="1400" b="0" i="0">
                          <a:solidFill>
                            <a:srgbClr val="1B1F24"/>
                          </a:solidFill>
                          <a:latin typeface="Calibri"/>
                        </a:rPr>
                        <a:t>Cement CEM III/B; carbon pass-through</a:t>
                      </a:r>
                    </a:p>
                  </a:txBody>
                  <a:tcPr marL="91440" marR="91440" marT="36576" marB="36576" anchor="ctr">
                    <a:solidFill>
                      <a:srgbClr val="F6F7F9"/>
                    </a:solidFill>
                  </a:tcPr>
                </a:tc>
                <a:tc>
                  <a:txBody>
                    <a:bodyPr wrap="square"/>
                    <a:lstStyle/>
                    <a:p>
                      <a:pPr algn="l"/>
                      <a:r>
                        <a:rPr sz="1400" b="0" i="0">
                          <a:solidFill>
                            <a:srgbClr val="1B1F24"/>
                          </a:solidFill>
                          <a:latin typeface="Calibri"/>
                        </a:rPr>
                        <a:t>€110/t (95–130); 85%</a:t>
                      </a:r>
                    </a:p>
                  </a:txBody>
                  <a:tcPr marL="91440" marR="91440" marT="36576" marB="36576" anchor="ctr">
                    <a:solidFill>
                      <a:srgbClr val="F6F7F9"/>
                    </a:solidFill>
                  </a:tcPr>
                </a:tc>
                <a:tc>
                  <a:txBody>
                    <a:bodyPr wrap="square"/>
                    <a:lstStyle/>
                    <a:p>
                      <a:pPr algn="l"/>
                      <a:r>
                        <a:rPr sz="1400" b="0" i="0">
                          <a:solidFill>
                            <a:srgbClr val="1B1F24"/>
                          </a:solidFill>
                          <a:latin typeface="Calibri"/>
                        </a:rPr>
                        <a:t>ESTIMATE; judgement A-POL-09</a:t>
                      </a:r>
                    </a:p>
                  </a:txBody>
                  <a:tcPr marL="91440" marR="91440" marT="36576" marB="36576" anchor="ctr">
                    <a:solidFill>
                      <a:srgbClr val="F6F7F9"/>
                    </a:solidFill>
                  </a:tcPr>
                </a:tc>
                <a:tc>
                  <a:txBody>
                    <a:bodyPr wrap="square"/>
                    <a:lstStyle/>
                    <a:p>
                      <a:pPr algn="ctr"/>
                      <a:r>
                        <a:rPr sz="1400" b="0" i="0">
                          <a:solidFill>
                            <a:srgbClr val="1B1F24"/>
                          </a:solidFill>
                          <a:latin typeface="Calibri"/>
                        </a:rPr>
                        <a:t>M / L</a:t>
                      </a:r>
                    </a:p>
                  </a:txBody>
                  <a:tcPr marL="91440" marR="91440" marT="36576" marB="36576" anchor="ctr">
                    <a:solidFill>
                      <a:srgbClr val="F6F7F9"/>
                    </a:solidFill>
                  </a:tcPr>
                </a:tc>
              </a:tr>
              <a:tr h="411480">
                <a:tc>
                  <a:txBody>
                    <a:bodyPr wrap="square"/>
                    <a:lstStyle/>
                    <a:p>
                      <a:pPr algn="l"/>
                      <a:r>
                        <a:rPr sz="1400" b="0" i="0">
                          <a:solidFill>
                            <a:srgbClr val="1B1F24"/>
                          </a:solidFill>
                          <a:latin typeface="Calibri"/>
                        </a:rPr>
                        <a:t>Concrete price pass-through of binder cost</a:t>
                      </a:r>
                    </a:p>
                  </a:txBody>
                  <a:tcPr marL="91440" marR="91440" marT="36576" marB="36576" anchor="ctr">
                    <a:solidFill>
                      <a:srgbClr val="FFFFFF"/>
                    </a:solidFill>
                  </a:tcPr>
                </a:tc>
                <a:tc>
                  <a:txBody>
                    <a:bodyPr wrap="square"/>
                    <a:lstStyle/>
                    <a:p>
                      <a:pPr algn="l"/>
                      <a:r>
                        <a:rPr sz="1400" b="0" i="0">
                          <a:solidFill>
                            <a:srgbClr val="1B1F24"/>
                          </a:solidFill>
                          <a:latin typeface="Calibri"/>
                        </a:rPr>
                        <a:t>80%</a:t>
                      </a:r>
                    </a:p>
                  </a:txBody>
                  <a:tcPr marL="91440" marR="91440" marT="36576" marB="36576" anchor="ctr">
                    <a:solidFill>
                      <a:srgbClr val="FFFFFF"/>
                    </a:solidFill>
                  </a:tcPr>
                </a:tc>
                <a:tc>
                  <a:txBody>
                    <a:bodyPr wrap="square"/>
                    <a:lstStyle/>
                    <a:p>
                      <a:pPr algn="l"/>
                      <a:r>
                        <a:rPr sz="1400" b="0" i="0">
                          <a:solidFill>
                            <a:srgbClr val="1B1F24"/>
                          </a:solidFill>
                          <a:latin typeface="Calibri"/>
                        </a:rPr>
                        <a:t>Judgement call, A-CST-13</a:t>
                      </a:r>
                    </a:p>
                  </a:txBody>
                  <a:tcPr marL="91440" marR="91440" marT="36576" marB="36576" anchor="ctr">
                    <a:solidFill>
                      <a:srgbClr val="FFFFFF"/>
                    </a:solidFill>
                  </a:tcPr>
                </a:tc>
                <a:tc>
                  <a:txBody>
                    <a:bodyPr wrap="square"/>
                    <a:lstStyle/>
                    <a:p>
                      <a:pPr algn="ctr"/>
                      <a:r>
                        <a:rPr sz="1400" b="0" i="0">
                          <a:solidFill>
                            <a:srgbClr val="1B1F24"/>
                          </a:solidFill>
                          <a:latin typeface="Calibri"/>
                        </a:rPr>
                        <a:t>L</a:t>
                      </a:r>
                    </a:p>
                  </a:txBody>
                  <a:tcPr marL="91440" marR="91440" marT="36576" marB="36576" anchor="ctr">
                    <a:solidFill>
                      <a:srgbClr val="FFFFFF"/>
                    </a:solidFill>
                  </a:tcPr>
                </a:tc>
              </a:tr>
              <a:tr h="411480">
                <a:tc>
                  <a:txBody>
                    <a:bodyPr wrap="square"/>
                    <a:lstStyle/>
                    <a:p>
                      <a:pPr algn="l"/>
                      <a:r>
                        <a:rPr sz="1400" b="0" i="0">
                          <a:solidFill>
                            <a:srgbClr val="1B1F24"/>
                          </a:solidFill>
                          <a:latin typeface="Calibri"/>
                        </a:rPr>
                        <a:t>Recycled aggregate delivered vs gravel</a:t>
                      </a:r>
                    </a:p>
                  </a:txBody>
                  <a:tcPr marL="91440" marR="91440" marT="36576" marB="36576" anchor="ctr">
                    <a:solidFill>
                      <a:srgbClr val="F6F7F9"/>
                    </a:solidFill>
                  </a:tcPr>
                </a:tc>
                <a:tc>
                  <a:txBody>
                    <a:bodyPr wrap="square"/>
                    <a:lstStyle/>
                    <a:p>
                      <a:pPr algn="l"/>
                      <a:r>
                        <a:rPr sz="1400" b="0" i="0">
                          <a:solidFill>
                            <a:srgbClr val="1B1F24"/>
                          </a:solidFill>
                          <a:latin typeface="Calibri"/>
                        </a:rPr>
                        <a:t>€24.5/t vs €32/t</a:t>
                      </a:r>
                    </a:p>
                  </a:txBody>
                  <a:tcPr marL="91440" marR="91440" marT="36576" marB="36576" anchor="ctr">
                    <a:solidFill>
                      <a:srgbClr val="F6F7F9"/>
                    </a:solidFill>
                  </a:tcPr>
                </a:tc>
                <a:tc>
                  <a:txBody>
                    <a:bodyPr wrap="square"/>
                    <a:lstStyle/>
                    <a:p>
                      <a:pPr algn="l"/>
                      <a:r>
                        <a:rPr sz="1400" b="0" i="0">
                          <a:solidFill>
                            <a:srgbClr val="1B1F24"/>
                          </a:solidFill>
                          <a:latin typeface="Calibri"/>
                        </a:rPr>
                        <a:t>ESTIMATE, price_breakdown §3</a:t>
                      </a:r>
                    </a:p>
                  </a:txBody>
                  <a:tcPr marL="91440" marR="91440" marT="36576" marB="36576" anchor="ctr">
                    <a:solidFill>
                      <a:srgbClr val="F6F7F9"/>
                    </a:solidFill>
                  </a:tcPr>
                </a:tc>
                <a:tc>
                  <a:txBody>
                    <a:bodyPr wrap="square"/>
                    <a:lstStyle/>
                    <a:p>
                      <a:pPr algn="ctr"/>
                      <a:r>
                        <a:rPr sz="1400" b="0" i="0">
                          <a:solidFill>
                            <a:srgbClr val="1B1F24"/>
                          </a:solidFill>
                          <a:latin typeface="Calibri"/>
                        </a:rPr>
                        <a:t>M</a:t>
                      </a:r>
                    </a:p>
                  </a:txBody>
                  <a:tcPr marL="91440" marR="91440" marT="36576" marB="36576" anchor="ctr">
                    <a:solidFill>
                      <a:srgbClr val="F6F7F9"/>
                    </a:solidFill>
                  </a:tcPr>
                </a:tc>
              </a:tr>
              <a:tr h="411480">
                <a:tc>
                  <a:txBody>
                    <a:bodyPr wrap="square"/>
                    <a:lstStyle/>
                    <a:p>
                      <a:pPr algn="l"/>
                      <a:r>
                        <a:rPr sz="1400" b="0" i="0">
                          <a:solidFill>
                            <a:srgbClr val="1B1F24"/>
                          </a:solidFill>
                          <a:latin typeface="Calibri"/>
                        </a:rPr>
                        <a:t>Delivery cost (9 m³ loads, 20 km)</a:t>
                      </a:r>
                    </a:p>
                  </a:txBody>
                  <a:tcPr marL="91440" marR="91440" marT="36576" marB="36576" anchor="ctr">
                    <a:solidFill>
                      <a:srgbClr val="FFFFFF"/>
                    </a:solidFill>
                  </a:tcPr>
                </a:tc>
                <a:tc>
                  <a:txBody>
                    <a:bodyPr wrap="square"/>
                    <a:lstStyle/>
                    <a:p>
                      <a:pPr algn="l"/>
                      <a:r>
                        <a:rPr sz="1400" b="0" i="0">
                          <a:solidFill>
                            <a:srgbClr val="1B1F24"/>
                          </a:solidFill>
                          <a:latin typeface="Calibri"/>
                        </a:rPr>
                        <a:t>€21.1/m³</a:t>
                      </a:r>
                    </a:p>
                  </a:txBody>
                  <a:tcPr marL="91440" marR="91440" marT="36576" marB="36576" anchor="ctr">
                    <a:solidFill>
                      <a:srgbClr val="FFFFFF"/>
                    </a:solidFill>
                  </a:tcPr>
                </a:tc>
                <a:tc>
                  <a:txBody>
                    <a:bodyPr wrap="square"/>
                    <a:lstStyle/>
                    <a:p>
                      <a:pPr algn="l"/>
                      <a:r>
                        <a:rPr sz="1400" b="0" i="0">
                          <a:solidFill>
                            <a:srgbClr val="1B1F24"/>
                          </a:solidFill>
                          <a:latin typeface="Calibri"/>
                        </a:rPr>
                        <a:t>ESTIMATE, A-TEC-28, A-FIX-02</a:t>
                      </a:r>
                    </a:p>
                  </a:txBody>
                  <a:tcPr marL="91440" marR="91440" marT="36576" marB="36576" anchor="ctr">
                    <a:solidFill>
                      <a:srgbClr val="FFFFFF"/>
                    </a:solidFill>
                  </a:tcPr>
                </a:tc>
                <a:tc>
                  <a:txBody>
                    <a:bodyPr wrap="square"/>
                    <a:lstStyle/>
                    <a:p>
                      <a:pPr algn="ctr"/>
                      <a:r>
                        <a:rPr sz="1400" b="0" i="0">
                          <a:solidFill>
                            <a:srgbClr val="1B1F24"/>
                          </a:solidFill>
                          <a:latin typeface="Calibri"/>
                        </a:rPr>
                        <a:t>M</a:t>
                      </a:r>
                    </a:p>
                  </a:txBody>
                  <a:tcPr marL="91440" marR="91440" marT="36576" marB="36576" anchor="ctr">
                    <a:solidFill>
                      <a:srgbClr val="FFFFFF"/>
                    </a:solidFill>
                  </a:tcPr>
                </a:tc>
              </a:tr>
              <a:tr h="411480">
                <a:tc>
                  <a:txBody>
                    <a:bodyPr wrap="square"/>
                    <a:lstStyle/>
                    <a:p>
                      <a:pPr algn="l"/>
                      <a:r>
                        <a:rPr sz="1400" b="0" i="0">
                          <a:solidFill>
                            <a:srgbClr val="1B1F24"/>
                          </a:solidFill>
                          <a:latin typeface="Calibri"/>
                        </a:rPr>
                        <a:t>Public green premium (private 0%)</a:t>
                      </a:r>
                    </a:p>
                  </a:txBody>
                  <a:tcPr marL="91440" marR="91440" marT="36576" marB="36576" anchor="ctr">
                    <a:solidFill>
                      <a:srgbClr val="F6F7F9"/>
                    </a:solidFill>
                  </a:tcPr>
                </a:tc>
                <a:tc>
                  <a:txBody>
                    <a:bodyPr wrap="square"/>
                    <a:lstStyle/>
                    <a:p>
                      <a:pPr algn="l"/>
                      <a:r>
                        <a:rPr sz="1400" b="0" i="0">
                          <a:solidFill>
                            <a:srgbClr val="1B1F24"/>
                          </a:solidFill>
                          <a:latin typeface="Calibri"/>
                        </a:rPr>
                        <a:t>1.5% (0–3%)</a:t>
                      </a:r>
                    </a:p>
                  </a:txBody>
                  <a:tcPr marL="91440" marR="91440" marT="36576" marB="36576" anchor="ctr">
                    <a:solidFill>
                      <a:srgbClr val="F6F7F9"/>
                    </a:solidFill>
                  </a:tcPr>
                </a:tc>
                <a:tc>
                  <a:txBody>
                    <a:bodyPr wrap="square"/>
                    <a:lstStyle/>
                    <a:p>
                      <a:pPr algn="l"/>
                      <a:r>
                        <a:rPr sz="1400" b="0" i="0">
                          <a:solidFill>
                            <a:srgbClr val="1B1F24"/>
                          </a:solidFill>
                          <a:latin typeface="Calibri"/>
                        </a:rPr>
                        <a:t>ASSUMPTION, A-FIX-03</a:t>
                      </a:r>
                    </a:p>
                  </a:txBody>
                  <a:tcPr marL="91440" marR="91440" marT="36576" marB="36576" anchor="ctr">
                    <a:solidFill>
                      <a:srgbClr val="F6F7F9"/>
                    </a:solidFill>
                  </a:tcPr>
                </a:tc>
                <a:tc>
                  <a:txBody>
                    <a:bodyPr wrap="square"/>
                    <a:lstStyle/>
                    <a:p>
                      <a:pPr algn="ctr"/>
                      <a:r>
                        <a:rPr sz="1400" b="0" i="0">
                          <a:solidFill>
                            <a:srgbClr val="1B1F24"/>
                          </a:solidFill>
                          <a:latin typeface="Calibri"/>
                        </a:rPr>
                        <a:t>L</a:t>
                      </a:r>
                    </a:p>
                  </a:txBody>
                  <a:tcPr marL="91440" marR="91440" marT="36576" marB="36576" anchor="ctr">
                    <a:solidFill>
                      <a:srgbClr val="F6F7F9"/>
                    </a:solidFill>
                  </a:tcPr>
                </a:tc>
              </a:tr>
              <a:tr h="411480">
                <a:tc>
                  <a:txBody>
                    <a:bodyPr wrap="square"/>
                    <a:lstStyle/>
                    <a:p>
                      <a:pPr algn="l"/>
                      <a:r>
                        <a:rPr sz="1400" b="0" i="0">
                          <a:solidFill>
                            <a:srgbClr val="1B1F24"/>
                          </a:solidFill>
                          <a:latin typeface="Calibri"/>
                        </a:rPr>
                        <a:t>Discount rate; terminal value</a:t>
                      </a:r>
                    </a:p>
                  </a:txBody>
                  <a:tcPr marL="91440" marR="91440" marT="36576" marB="36576" anchor="ctr">
                    <a:solidFill>
                      <a:srgbClr val="FFFFFF"/>
                    </a:solidFill>
                  </a:tcPr>
                </a:tc>
                <a:tc>
                  <a:txBody>
                    <a:bodyPr wrap="square"/>
                    <a:lstStyle/>
                    <a:p>
                      <a:pPr algn="l"/>
                      <a:r>
                        <a:rPr sz="1400" b="0" i="0">
                          <a:solidFill>
                            <a:srgbClr val="1B1F24"/>
                          </a:solidFill>
                          <a:latin typeface="Calibri"/>
                        </a:rPr>
                        <a:t>8% real; salvage 25%</a:t>
                      </a:r>
                    </a:p>
                  </a:txBody>
                  <a:tcPr marL="91440" marR="91440" marT="36576" marB="36576" anchor="ctr">
                    <a:solidFill>
                      <a:srgbClr val="FFFFFF"/>
                    </a:solidFill>
                  </a:tcPr>
                </a:tc>
                <a:tc>
                  <a:txBody>
                    <a:bodyPr wrap="square"/>
                    <a:lstStyle/>
                    <a:p>
                      <a:pPr algn="l"/>
                      <a:r>
                        <a:rPr sz="1400" b="0" i="0">
                          <a:solidFill>
                            <a:srgbClr val="1B1F24"/>
                          </a:solidFill>
                          <a:latin typeface="Calibri"/>
                        </a:rPr>
                        <a:t>Client choice, plan.md §2</a:t>
                      </a:r>
                    </a:p>
                  </a:txBody>
                  <a:tcPr marL="91440" marR="91440" marT="36576" marB="36576" anchor="ctr">
                    <a:solidFill>
                      <a:srgbClr val="FFFFFF"/>
                    </a:solidFill>
                  </a:tcPr>
                </a:tc>
                <a:tc>
                  <a:txBody>
                    <a:bodyPr wrap="square"/>
                    <a:lstStyle/>
                    <a:p>
                      <a:pPr algn="ctr"/>
                      <a:r>
                        <a:rPr sz="1400" b="0" i="0">
                          <a:solidFill>
                            <a:srgbClr val="1B1F24"/>
                          </a:solidFill>
                          <a:latin typeface="Calibri"/>
                        </a:rPr>
                        <a:t>–</a:t>
                      </a:r>
                    </a:p>
                  </a:txBody>
                  <a:tcPr marL="91440" marR="91440" marT="36576" marB="36576" anchor="ctr">
                    <a:solidFill>
                      <a:srgbClr val="FFFFFF"/>
                    </a:solidFill>
                  </a:tcPr>
                </a:tc>
              </a:tr>
              <a:tr h="411480">
                <a:tc>
                  <a:txBody>
                    <a:bodyPr wrap="square"/>
                    <a:lstStyle/>
                    <a:p>
                      <a:pPr algn="l"/>
                      <a:r>
                        <a:rPr sz="1400" b="0" i="0">
                          <a:solidFill>
                            <a:srgbClr val="1B1F24"/>
                          </a:solidFill>
                          <a:latin typeface="Calibri"/>
                        </a:rPr>
                        <a:t>Gate fee for clean rubble (bulk)</a:t>
                      </a:r>
                    </a:p>
                  </a:txBody>
                  <a:tcPr marL="91440" marR="91440" marT="36576" marB="36576" anchor="ctr">
                    <a:solidFill>
                      <a:srgbClr val="F6F7F9"/>
                    </a:solidFill>
                  </a:tcPr>
                </a:tc>
                <a:tc>
                  <a:txBody>
                    <a:bodyPr wrap="square"/>
                    <a:lstStyle/>
                    <a:p>
                      <a:pPr algn="l"/>
                      <a:r>
                        <a:rPr sz="1400" b="0" i="0">
                          <a:solidFill>
                            <a:srgbClr val="1B1F24"/>
                          </a:solidFill>
                          <a:latin typeface="Calibri"/>
                        </a:rPr>
                        <a:t>€1/t (0–10)</a:t>
                      </a:r>
                    </a:p>
                  </a:txBody>
                  <a:tcPr marL="91440" marR="91440" marT="36576" marB="36576" anchor="ctr">
                    <a:solidFill>
                      <a:srgbClr val="F6F7F9"/>
                    </a:solidFill>
                  </a:tcPr>
                </a:tc>
                <a:tc>
                  <a:txBody>
                    <a:bodyPr wrap="square"/>
                    <a:lstStyle/>
                    <a:p>
                      <a:pPr algn="l"/>
                      <a:r>
                        <a:rPr sz="1400" b="0" i="0">
                          <a:solidFill>
                            <a:srgbClr val="1B1F24"/>
                          </a:solidFill>
                          <a:latin typeface="Calibri"/>
                        </a:rPr>
                        <a:t>ESTIMATE, A-MKT-15, MKT-20</a:t>
                      </a:r>
                    </a:p>
                  </a:txBody>
                  <a:tcPr marL="91440" marR="91440" marT="36576" marB="36576" anchor="ctr">
                    <a:solidFill>
                      <a:srgbClr val="F6F7F9"/>
                    </a:solidFill>
                  </a:tcPr>
                </a:tc>
                <a:tc>
                  <a:txBody>
                    <a:bodyPr wrap="square"/>
                    <a:lstStyle/>
                    <a:p>
                      <a:pPr algn="ctr"/>
                      <a:r>
                        <a:rPr sz="1400" b="0" i="0">
                          <a:solidFill>
                            <a:srgbClr val="1B1F24"/>
                          </a:solidFill>
                          <a:latin typeface="Calibri"/>
                        </a:rPr>
                        <a:t>L</a:t>
                      </a:r>
                    </a:p>
                  </a:txBody>
                  <a:tcPr marL="91440" marR="91440" marT="36576" marB="36576" anchor="ctr">
                    <a:solidFill>
                      <a:srgbClr val="F6F7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